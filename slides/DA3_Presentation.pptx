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PERSONALIZED DYNAMIC DISCOUNT RECOMMENDATION</a:t>
            </a:r>
          </a:p>
          <a:p>
            <a:pPr>
              <a:spcBef>
                <a:spcPts val="800"/>
              </a:spcBef>
              <a:defRPr sz="2000" b="1">
                <a:solidFill>
                  <a:srgbClr val="2563EB"/>
                </a:solidFill>
              </a:defRPr>
            </a:pPr>
            <a:r>
              <a:t>Contextual Multi-Armed Bandits with Commercial Guardrails &amp; Financial Ledgers</a:t>
            </a:r>
          </a:p>
          <a:p>
            <a:pPr>
              <a:spcBef>
                <a:spcPts val="2000"/>
              </a:spcBef>
              <a:defRPr sz="1300">
                <a:solidFill>
                  <a:srgbClr val="475569"/>
                </a:solidFill>
              </a:defRPr>
            </a:pPr>
            <a:r>
              <a:t>Course: BCSE209L — Machine Learning | Digital Assessment 3 (DA3 Project Review)</a:t>
            </a:r>
            <a:br/>
            <a:r>
              <a:t>Class: CH2026270100894 | Slot: B2 | School: CNI</a:t>
            </a:r>
            <a:br/>
            <a:r>
              <a:t>Faculty: Dr. S. Sridevi, Associate Professor</a:t>
            </a:r>
            <a:br/>
            <a:r>
              <a:t>Team Members: Ankit Sthitapranjya (24BAI1287) &amp; Ananya Shandilya (24BAI1428)</a:t>
            </a:r>
            <a:br/>
            <a:r>
              <a:t>Evaluation Dates: 15.10.2026 to 19.10.2026 | Marks Allocated: 10 Marks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RUBRIC SECTION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1. 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PRIMARY OBJECTIVES (Need of the Hour Problem)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</a:defRPr>
            </a:pPr>
            <a:r>
              <a:t>• 1. Dynamic Pricing Personalization: Personalize discounts across 5 arms ({0%, 5%, 10%, 15%, 20%}) based on 20D context.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</a:defRPr>
            </a:pPr>
            <a:r>
              <a:t>• 2. Solve Exploration vs. Exploitation: Deploy LinUCB and Thompson Sampling to minimize cumulative regret vs. static A/B testing.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</a:defRPr>
            </a:pPr>
            <a:r>
              <a:t>• 3. Guaranteed Safety via Guardrails: Programmatically enforce loyalty tier ceilings and unit margin floors (100% compliance).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</a:defRPr>
            </a:pPr>
            <a:r>
              <a:t>• 4. Dual-Mode Evaluation: Benchmark Online (20,000 rounds learning) vs. Frozen (5,000 rounds operational) over 10 random seeds.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</a:defRPr>
            </a:pPr>
            <a:r>
              <a:t>• 5. Auditable Accounting: Maintain an immutable microeconomic transaction ledger tracking profit, revenue, and discount concessions.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</a:defRPr>
            </a:pPr>
            <a:r>
              <a:t>• 6. Frontline Explainability: Deliver an interactive, 100% offline Streamlit decision dashboard for store merchandisers.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RUBRIC 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2. Literature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KEY FOUNDATIONAL LITERATURE</a:t>
            </a:r>
          </a:p>
          <a:p>
            <a:pPr>
              <a:spcBef>
                <a:spcPts val="1200"/>
              </a:spcBef>
              <a:defRPr sz="1400">
                <a:solidFill>
                  <a:srgbClr val="0F172A"/>
                </a:solidFill>
              </a:defRPr>
            </a:pPr>
            <a:r>
              <a:t>• Li et al. (WWW 2010) — LinUCB: Formulated contextual bandits with linear ridge regression and matrix concentration confidence bounds.</a:t>
            </a:r>
          </a:p>
          <a:p>
            <a:pPr>
              <a:spcBef>
                <a:spcPts val="1200"/>
              </a:spcBef>
              <a:defRPr sz="1400">
                <a:solidFill>
                  <a:srgbClr val="0F172A"/>
                </a:solidFill>
              </a:defRPr>
            </a:pPr>
            <a:r>
              <a:t>• Li et al. (WSDM 2011) — Replay Evaluation: Proved that rejection sampling on logged data produces an unbiased offline estimator.</a:t>
            </a:r>
          </a:p>
          <a:p>
            <a:pPr>
              <a:spcBef>
                <a:spcPts val="1200"/>
              </a:spcBef>
              <a:defRPr sz="1400">
                <a:solidFill>
                  <a:srgbClr val="0F172A"/>
                </a:solidFill>
              </a:defRPr>
            </a:pPr>
            <a:r>
              <a:t>• Agrawal &amp; Goyal (ICML 2013) &amp; Chapelle &amp; Li (NeurIPS 2011) — Contextual Thompson Sampling: Evaluated Bayesian posterior sampling with linear payoffs.</a:t>
            </a:r>
          </a:p>
          <a:p>
            <a:pPr>
              <a:spcBef>
                <a:spcPts val="1200"/>
              </a:spcBef>
              <a:defRPr sz="1400">
                <a:solidFill>
                  <a:srgbClr val="0F172A"/>
                </a:solidFill>
              </a:defRPr>
            </a:pPr>
            <a:r>
              <a:t>• Lattimore &amp; Szepesvari (Cambridge 2020) — Bandit Theory: Grounded cumulative expected regret formulations to isolate policy quality from noise.</a:t>
            </a:r>
          </a:p>
          <a:p>
            <a:pPr>
              <a:spcBef>
                <a:spcPts val="1200"/>
              </a:spcBef>
              <a:defRPr sz="1400">
                <a:solidFill>
                  <a:srgbClr val="0F172A"/>
                </a:solidFill>
              </a:defRPr>
            </a:pPr>
            <a:r>
              <a:t>• Hughes (1994) — RFM Framework: Customer segmentation by Recency, Frequency, and Monetary value for commercial loyalty tiers.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RUBRIC SECTION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3. Proposed Methodology: Algorithmic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LinUCB &amp; Thompson Sampling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LinUCB Upper Confidence Bound: p_{t,a} = x_t^T theta_a + alpha * sqrt(x_t^T A_a^-1 x_t)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Sherman-Morrison Update: M_a &lt;- M_a - (M_a x x^T M_a)/(1 + x^T M_a x), updating inverse directly in O(d^2) operations.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Contextual Thompson Sampling: Samples theta_tilde_a ~ N(theta_hat_a, v^2 B_a^-1) for Bayesian exploration.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Action Space: 5 discrete discount arms {0%, 5%, 10%, 15%, 20%}.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Safety Guardrails &amp; Simulator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Inviolable Guardrails: Programmatic filtering restricts action set before scoring: New (max 5%), Regular (max 15%), Loyal (max 20%).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Unit Cost Margin Floor: DiscountedPrice &gt;= CostPrice + MarginFloor.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Calibrated Demand Simulator: Logistic purchase link P(Y=1|x,a) calibrated at ROC-AUC 0.6322 on historical demand tertiles.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Omniscient Oracle: Evaluates expected profit across all 5 arms simultaneously for exact regret computation.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RUBRIC 2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Hardware and Software Module Specifications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Module Name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Type &amp; Technology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Inputs / Dependencies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Outputs &amp; Artifacts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Hardware Platform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Multi-core x86_64 CPU, 16GB RAM, No GPU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Local PC environment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Fast CPU execution (&lt;18s training)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Data &amp; Simulator (`src/simulation`)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Python 3.14, NumPy, Pandas, Scikit-learn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73,100 Kaggle rows, 8k registry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20D context vectors, P(Purchase), Oracle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Guardrails (`src/guardrails`)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Deterministic Python filter (`rules.py`)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20D Context, Action space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Eligible action set A_t (100% compliance)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Bandit Policies (`src/policies`)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LinUCB (Sherman-Morrison O(d^2)), Thompson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Eligible set, Context, Reward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Recommended discount, Uncertainty score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Dashboard (`app/streamlit_app.py`)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Streamlit 1.42.0, Plotly 6.0.0, 100% Offline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Pre-trained .npz models, config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Live recommendation, What-If, Audits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RUBRIC SECTION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4. Novel Aspects of the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563EB"/>
                </a:solidFill>
              </a:defRPr>
            </a:pPr>
            <a:r>
              <a:t>Sherman-Morrison O(d^2) Updates</a:t>
            </a:r>
          </a:p>
          <a:p>
            <a:pPr>
              <a:spcBef>
                <a:spcPts val="400"/>
              </a:spcBef>
              <a:defRPr sz="1200" b="1">
                <a:solidFill>
                  <a:srgbClr val="475569"/>
                </a:solidFill>
              </a:defRPr>
            </a:pPr>
            <a:r>
              <a:t>High-Throughput Linear Algebra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</a:defRPr>
            </a:pPr>
            <a:r>
              <a:t>Bypasses naive O(d^3) matrix inversion by updating inverse covariance directly via rank-1 outer products, slashing latency to microseconds.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291840" cy="43891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0B981"/>
                </a:solidFill>
              </a:defRPr>
            </a:pPr>
            <a:r>
              <a:t>Inviolable Safety Envelope</a:t>
            </a:r>
          </a:p>
          <a:p>
            <a:pPr>
              <a:spcBef>
                <a:spcPts val="400"/>
              </a:spcBef>
              <a:defRPr sz="1200" b="1">
                <a:solidFill>
                  <a:srgbClr val="475569"/>
                </a:solidFill>
              </a:defRPr>
            </a:pPr>
            <a:r>
              <a:t>100% Operational Compliance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</a:defRPr>
            </a:pPr>
            <a:r>
              <a:t>Eliminates below-cost sales and loyalty breaches programmatically (0 breaches in 200k decisions), avoiding policy collapse of soft penalty terms.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291840" cy="43891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Dual-Mode &amp; Ledger Protocol</a:t>
            </a:r>
          </a:p>
          <a:p>
            <a:pPr>
              <a:spcBef>
                <a:spcPts val="400"/>
              </a:spcBef>
              <a:defRPr sz="1200" b="1">
                <a:solidFill>
                  <a:srgbClr val="475569"/>
                </a:solidFill>
              </a:defRPr>
            </a:pPr>
            <a:r>
              <a:t>Microeconomic Auditability</a:t>
            </a:r>
          </a:p>
          <a:p>
            <a:pPr>
              <a:spcBef>
                <a:spcPts val="1400"/>
              </a:spcBef>
              <a:defRPr sz="1400">
                <a:solidFill>
                  <a:srgbClr val="0F172A"/>
                </a:solidFill>
              </a:defRPr>
            </a:pPr>
            <a:r>
              <a:t>Pairs theoretical regret with double-entry ledgers, revealing early exploration tax, Round 3,200 break-even, and gross revenue leadership.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RUBRIC SECTION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5. Results &amp; Discussion: Policy Benchmarks</a:t>
            </a:r>
          </a:p>
        </p:txBody>
      </p:sp>
      <p:pic>
        <p:nvPicPr>
          <p:cNvPr id="4" name="Picture 3" descr="cumulative_profit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3703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645920"/>
            <a:ext cx="384048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HEADLINE FINDINGS (10 Seeds)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Profit Winner: Fixed 10% earned Rs 80,265.41 +/- 1,788.01 (hit elasticity sweet spot).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Revenue Winner: LinUCB captured highest gross revenue: Rs 234,276.84 +/- 4,476.98.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Conversion Lift: LinUCB achieved 24.29% conversion vs. 23.81% for Fixed 10%.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Lift vs. Retail Rules: LinUCB beat enterprise Rule-based by +Rs 492.50 (won in 8/10 seeds).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RUBRIC SECTION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5. Results &amp; Discussion: Convergence &amp; Cash Flows</a:t>
            </a:r>
          </a:p>
        </p:txBody>
      </p:sp>
      <p:pic>
        <p:nvPicPr>
          <p:cNvPr id="4" name="Picture 3" descr="regret_curves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3703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645920"/>
            <a:ext cx="384048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REGRET &amp; LEDGER DYNAMICS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Sublinear Convergence: Regret drops from Rs 0.229 to Rs 0.092/round (learning flattens).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Non-Zero Asymptote: Linear model cannot fit sigmoidal demand link across 20 dimensions.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Break-Even Crossover: Crossed break-even vs. Rule-based at Round 3,200 on Seed 42.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Volume-Margin Trade-Off: LinUCB conceded Rs 24.6k discounts vs. Rs 20.9k for Fixed 10%.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RUBRIC SECTION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6. Conclusion &amp; Commercial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SUMMARY OF CONTRIBUTIONS</a:t>
            </a:r>
          </a:p>
          <a:p>
            <a:pPr>
              <a:spcBef>
                <a:spcPts val="1400"/>
              </a:spcBef>
              <a:defRPr sz="1500">
                <a:solidFill>
                  <a:srgbClr val="0F172A"/>
                </a:solidFill>
              </a:defRPr>
            </a:pPr>
            <a:r>
              <a:t>1. ML Application: Contextual bandits successfully personalize retail discounts, driving top-line revenue to Rs 234.3k and outperforming rule-based baselines in 80% of runs.</a:t>
            </a:r>
          </a:p>
          <a:p>
            <a:pPr>
              <a:spcBef>
                <a:spcPts val="1400"/>
              </a:spcBef>
              <a:defRPr sz="1500">
                <a:solidFill>
                  <a:srgbClr val="0F172A"/>
                </a:solidFill>
              </a:defRPr>
            </a:pPr>
            <a:r>
              <a:t>2. The Profit Lesson: Heuristic Fixed 10% earned highest profit (Rs 80.3k) by hitting the price elasticity sweet spot without suffering steep unit margin penalties on 15-20% discounts.</a:t>
            </a:r>
          </a:p>
          <a:p>
            <a:pPr>
              <a:spcBef>
                <a:spcPts val="1400"/>
              </a:spcBef>
              <a:defRPr sz="1500">
                <a:solidFill>
                  <a:srgbClr val="0F172A"/>
                </a:solidFill>
              </a:defRPr>
            </a:pPr>
            <a:r>
              <a:t>3. Hard Guardrails are Mandatory: Deterministic programmatic filtering achieved 100% operational safety (0 breaches across 200k rounds) without the policy collapse of soft penalties.</a:t>
            </a:r>
          </a:p>
          <a:p>
            <a:pPr>
              <a:spcBef>
                <a:spcPts val="1400"/>
              </a:spcBef>
              <a:defRPr sz="1500">
                <a:solidFill>
                  <a:srgbClr val="0F172A"/>
                </a:solidFill>
              </a:defRPr>
            </a:pPr>
            <a:r>
              <a:t>4. Accounting Integrity: Double-entry financial ledgers revealed cash-flow dynamics that theoretical regret curves hide.</a:t>
            </a:r>
          </a:p>
          <a:p>
            <a:pPr>
              <a:spcBef>
                <a:spcPts val="1400"/>
              </a:spcBef>
              <a:defRPr sz="1500">
                <a:solidFill>
                  <a:srgbClr val="0F172A"/>
                </a:solidFill>
              </a:defRPr>
            </a:pPr>
            <a:r>
              <a:t>5. Scientific Integrity: Evaluated within our calibrated simulation environment; physical retail deployment requires global store-wide promotional spend budgets.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RUBRIC SECTION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7. 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BIBLIOGRAPHIC REFERENCES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[1] L. Li, W. Chu, J. Langford, and R. E. Schapire, 'A contextual-bandit approach to personalized news article recommendation,' in Proc. 19th Int. Conf. World Wide Web (WWW), 2010, pp. 661-670.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[2] L. Li, W. Chu, J. Langford, and X. Wang, 'Unbiased offline evaluation of contextual-bandit-based news article recommendation algorithms,' in Proc. 4th ACM WSDM, 2011, pp. 297-306.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[3] W. R. Thompson, 'On the likelihood that one unknown probability exceeds another in view of the evidence of two samples,' Biometrika, vol. 25, pp. 285-294, 1933.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[4] S. Agrawal and N. Goyal, 'Thompson Sampling for contextual bandits with linear payoffs,' in Proc. 30th ICML, 2013, pp. 127-135.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[5] O. Chapelle and L. Li, 'An empirical evaluation of Thompson Sampling,' in Adv. Neural Inf. Process. Syst. (NeurIPS 24), 2011.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[6] T. Lattimore and C. Szepesvari, Bandit Algorithms. Cambridge University Press, 2020.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[7] R. S. Sutton and A. G. Barto, Reinforcement Learning: An Introduction, 2nd ed. MIT Press, 2018.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[8] D. Zhou, L. Li, and Q. Gu, 'Neural contextual bandits with UCB-based exploration,' in Proc. 37th ICML, 2020.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[9] A. M. Hughes, Strategic Database Marketing. Probus Publishing, 1994.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[10] Kaggle Retail Store Inventory and Demand Forecasting Dataset, 2023. [Online]. Available: https://www.kaggle.com/datasets.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