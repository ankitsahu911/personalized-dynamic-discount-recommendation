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committee. Today I am presenting my final-year project: *Personalized Dynamic Discount Recommendation Using Contextual Multi-Armed Bandits with Commercial Guardrails*.</a:t>
            </a:r>
          </a:p>
          <a:p/>
          <a:p>
            <a:r>
              <a:t>Promotional discounting is one of the most critical operational levers in retail, but when executed poorly, it destroys millions in margin. In this work, I formulate discount recommendation as a contextual bandit, bound it with hard business guardrails, and evaluate it across twenty thousand simulated rounds and seventy-three thousand historical retail records. Let's examine the commercial problem."</a:t>
            </a:r>
          </a:p>
          <a:p/>
          <a:p>
            <a:r>
              <a:t>*Transition:* "To understand why bandits are necessary, consider how physical retailers currently discount."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retail, every price promotion involves a delicate trade-off. Price cuts stimulate sales volume, clear seasonal inventory, and acquire customers. But every percentage point conceded directly reduces unit margin. </a:t>
            </a:r>
          </a:p>
          <a:p/>
          <a:p>
            <a:r>
              <a:t>Most retailers rely on blunt, category-wide heuristics—like 'twenty percent off apparel.' This is financially wasteful. A loyal shopper buying an everyday essential will gladly convert at full price; giving them twenty percent off is deadweight margin loss. Meanwhile, a price-sensitive prospect might abandon their cart without a five percent incentive. Our goal is to personalize discounts dynamically to customer and market context while guaranteeing that no discount ever causes a financial loss."</a:t>
            </a:r>
          </a:p>
          <a:p/>
          <a:p>
            <a:r>
              <a:t>*Transition:* "Traditional machine learning struggles with this problem. Here is why we chose contextual bandits."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supervised learning only tells us what happened at the historical prices we offered—it cannot tell us counterfactuals. Classical A/B testing can, but it forces retailers to allocate static traffic to failing price points for weeks, suffering high opportunity costs.</a:t>
            </a:r>
          </a:p>
          <a:p/>
          <a:p>
            <a:r>
              <a:t>Contextual bandits solve this exploration-exploitation dilemma. At each transaction, the bandit observes a twenty-dimensional context—customer loyalty, competitor price gap, inventory levels—and selects among five discrete discount arms: zero, five, ten, fifteen, or twenty percent. Unlike full reinforcement learning, retail transactions are exogenous: discounting item A this morning does not alter the feature vector of unrelated customer B this afternoon. This single-step formulation eliminates MDP complexity and achieves high sample efficiency."</a:t>
            </a:r>
          </a:p>
          <a:p/>
          <a:p>
            <a:r>
              <a:t>*Transition:* "Now let's examine the specific bandit algorithms we implemented."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two distinct contextual policies: Linear Upper Confidence Bound, or LinUCB, and Bayesian contextual Thompson Sampling.</a:t>
            </a:r>
          </a:p>
          <a:p/>
          <a:p>
            <a:r>
              <a:t>LinUCB models expected payoff as a linear function of context. For each arm, it computes an optimistic score consisting of the expected payoff plus an exploration bonus: alpha times the standard deviation of our estimate. The hyperparameter alpha governs the exploration appetite. Crucially, a naive LinUCB inverts the covariance matrix at every round in O of d-cubed time. We implemented the rank-one Sherman-Morrison update directly on the inverse covariance matrix, reducing update complexity to O of d-squared.</a:t>
            </a:r>
          </a:p>
          <a:p/>
          <a:p>
            <a:r>
              <a:t>In parallel, we implemented contextual Thompson Sampling with Gaussian priors, which samples parameters from the posterior distribution and executes the greedy action, naturally balancing exploration through parameter dispersion."</a:t>
            </a:r>
          </a:p>
          <a:p/>
          <a:p>
            <a:r>
              <a:t>*Transition:* "However, letting an algorithm explore prices unconstrained is commercial suicide. That brings us to our safety guardrails."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physical retail, an autonomous learning agent might discover that offering twenty percent discounts to price-sensitive customers maximizes immediate conversions. But doing so degrades brand equity and risks selling below cost.</a:t>
            </a:r>
          </a:p>
          <a:p/>
          <a:p>
            <a:r>
              <a:t>We engineered a hard, programmatic safety envelope. First, customer loyalty tier ceilings: New customers can receive at most five percent, Regular customers fifteen percent, and Loyal customers twenty percent. Second, a unit margin floor: discounted price must exceed wholesale cost plus a margin buffer.</a:t>
            </a:r>
          </a:p>
          <a:p/>
          <a:p>
            <a:r>
              <a:t>Crucially, these guardrails are implemented as deterministic filters in `get_eligible_actions`. Forbidden arms are pruned before the bandit scores are evaluated. If all promotional arms are disqualified, the system falls back safely to zero percent full retail price."</a:t>
            </a:r>
          </a:p>
          <a:p/>
          <a:p>
            <a:r>
              <a:t>*Transition:* "Let us clearly examine the data foundations and where real data ends and simulation begins."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completely honest about our data foundations. We utilized a public retail dataset from Kaggle comprising seventy-three thousand one hundred store-product-day records across multiple categories and pricing regimes.</a:t>
            </a:r>
          </a:p>
          <a:p/>
          <a:p>
            <a:r>
              <a:t>However, public retail logs lack individual customer identifiers. Therefore, we establish a strict boundary: the historical store, product, and competitor prices are from the public dataset. But the customer registry—eight thousand synthetic profiles with RFM tiers, shopping baskets, and conversion outcomes—is simulated by design. Furthermore, wholesale cost is modeled under an assumed forty percent gross margin rate. All financial figures are simulated rupees."</a:t>
            </a:r>
          </a:p>
          <a:p/>
          <a:p>
            <a:r>
              <a:t>*Transition:* "Let's see how the simulator generates demand."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train and evaluate policies offline, we built a demand simulation environment. Purchase probability is modeled via a logistic sigmoid link incorporating offered discount, customer price sensitivity, competitor price gap, and inventory scarcity.</a:t>
            </a:r>
          </a:p>
          <a:p/>
          <a:p>
            <a:r>
              <a:t>To prevent arbitrary elasticity assumptions, we calibrated the logistic coefficients against historical demand tertiles in the dataset, achieving an empirical ROC-AUC of 0.6322. A modest AUC of 0.63 reflects noisy, realistic retail demand—it confirms that the simulator embeds genuine trade-offs without trivial deterministic patterns. The simulator also computes counterfactual outcomes across all five arms simultaneously, giving us an omniscient Oracle for regret tracking."</a:t>
            </a:r>
          </a:p>
          <a:p/>
          <a:p>
            <a:r>
              <a:t>*Transition:* "Now let's examine our evaluation protocol."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a dual-mode evaluation protocol to avoid conflating learning costs with mature policy quality.</a:t>
            </a:r>
          </a:p>
          <a:p/>
          <a:p>
            <a:r>
              <a:t>First, Online Mode: twenty thousand sequential rounds from a cold start. The bandit learns in-flight, suffering exploration regret. Second, Frozen Mode: five thousand held-out rounds where model weights are locked, measuring operational steady-state performance.</a:t>
            </a:r>
          </a:p>
          <a:p/>
          <a:p>
            <a:r>
              <a:t>We replicated all runs across ten independent random seeds, Seeds 42 through 51. All five competing policies face identical customer arrival sequences with synchronized per-round random seeds. Finally, we track an immutable financial ledger recording every rupee of revenue, profit, and conceded discount."</a:t>
            </a:r>
          </a:p>
          <a:p/>
          <a:p>
            <a:r>
              <a:t>*Transition:* "Here is our most surprising empirical result."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most important headline finding is that the heuristic benchmark, Fixed 10%, earned the highest total profit in both Online and Frozen modes.</a:t>
            </a:r>
          </a:p>
          <a:p/>
          <a:p>
            <a:r>
              <a:t>Across ten seeds in Online mode, Fixed 10% achieved eighty thousand two hundred sixty-five rupees of cumulative profit. LinUCB achieved seventy-eight thousand nine hundred twenty-five rupees, suffering a deficit of one thousand three hundred forty-one rupees, or minus 1.67%. Thompson Sampling trailed by minus 1.76%. </a:t>
            </a:r>
          </a:p>
          <a:p/>
          <a:p>
            <a:r>
              <a:t>Why did a static ten percent rule beat adaptive bandits? Because in our calibrated retail market, ten percent discount sits at the exact microeconomic sweet spot. It provides enough price stimulus to convert shoppers without incurring the severe margin loss of fifteen or twenty percent markdowns. The bandits explored fifteen and twenty percent discounts, but the incremental volume gained could not offset the halved unit margin."</a:t>
            </a:r>
          </a:p>
          <a:p/>
          <a:p>
            <a:r>
              <a:t>*Transition:* "However, when we look at top-line revenue, the picture flips entirely."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"LinUCB generated the highest gross revenue in both Online mode—two hundred thirty-four thousand two hundred seventy-seven rupees—and Frozen mode—fifty-eight thousand four hundred sixty-five rupees.</a:t>
            </a:r>
          </a:p>
          <a:p/>
          <a:p>
            <a:r>
              <a:t>LinUCB learned customer price elasticity and offered higher discounts—averaging 8.45% versus 8.09% for Fixed 10%. This lifted conversion rates to 24.29% compared to 23.81% for Fixed 10%. Furthermore, benchmarked against the standard commercial Rule-based policy, LinUCB achieved a profit lift of plus four hundred ninety-two rupees, winning in eight out of ten evaluation seeds. LinUCB proved superior at expanding market share and top-line volume."</a:t>
            </a:r>
          </a:p>
          <a:p/>
          <a:p>
            <a:r>
              <a:t>*Transition:* "Let's examine the mathematical convergence of regret."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displays the cumulative expected regret curves over twenty thousand rounds. Notice the characteristic sublinear profile. In the first five hundred rounds, active exploration produces regret of nearly twenty-three paise per round. By the final two thousand rounds, regret flattens to nine paise per round for LinUCB and under five paise per round for Thompson Sampling.</a:t>
            </a:r>
          </a:p>
          <a:p/>
          <a:p>
            <a:r>
              <a:t>Importantly, neither curve flattens to zero. In theory, linear bandit regret flattens asymptotically. Here, a steady residual slope persists because the simulator generates demand via a non-linear logistic sigmoid, whereas LinUCB assumes a linear payoff. This non-zero asymptote reflects an irreducible functional approximation gap."</a:t>
            </a:r>
          </a:p>
          <a:p/>
          <a:p>
            <a:r>
              <a:t>*Transition:* "Now let's examine the money view through our financial ledger."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transaction ledger exposes cash flow dynamics that regret curves hide. During the initial fifteen hundred rounds, LinUCB incurs an 'exploration tax,' trailing the Rule-based baseline by up to two hundred eighty rupees.</a:t>
            </a:r>
          </a:p>
          <a:p/>
          <a:p>
            <a:r>
              <a:t>However, as parameter estimates mature, LinUCB begins to selectively exploit profitable elasticities. It crosses break-even against the Rule-based policy at Round 3,200 on Seed 42, expanding its profit lead to four hundred ninety-two rupees by the end. The ledger also shows that LinUCB conceded twenty-four thousand six hundred rupees in discounts versus twenty thousand nine hundred for Fixed 10%, illustrating the exact cash trade-off between volume acquisition and margin preservation."</a:t>
            </a:r>
          </a:p>
          <a:p/>
          <a:p>
            <a:r>
              <a:t>*Transition:* "Next, let's verify how our commercial guardrails performed."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all ten evaluation seeds and two hundred thousand cumulative online rounds, our programmatic guardrails achieved exactly one hundred percent compliance: zero margin floor breaches and zero loyalty tier violations.</a:t>
            </a:r>
          </a:p>
          <a:p/>
          <a:p>
            <a:r>
              <a:t>In the New customer tier, LinUCB respected the five percent ceiling, averaging 3.11% discount. In the Loyal tier, it leveraged its higher twenty percent ceiling to average 11.02%. </a:t>
            </a:r>
          </a:p>
          <a:p/>
          <a:p>
            <a:r>
              <a:t>In stark contrast, when we audited the raw historical Kaggle dataset against our tier rules, 39.04% of historical records violated loyalty tier policies. This proves that historical human discounting was undisciplined, reinforcing why algorithmic systems require deterministic guardrails."</a:t>
            </a:r>
          </a:p>
          <a:p/>
          <a:p>
            <a:r>
              <a:t>*Transition:* "We also evaluated policies on real historical logs via off-policy replay."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 rejection sampling methodology of Li et al., we evaluated policies against seventy-three thousand one hundred historical records. Replay match rates were consistent across policies at roughly twenty percent.</a:t>
            </a:r>
          </a:p>
          <a:p/>
          <a:p>
            <a:r>
              <a:t>LinUCB achieved a replay profit of six rupees and eleven paise per round, compared to five rupees and eighty-seven paise for Fixed 10%. However, we do NOT claim this proves real-world superiority. First, ninety-five percent confidence intervals overlap completely across all policies. Second, 39% of historical rows violated guardrails and could never match. Third, historical discounts were logged non-randomly by store managers. Replay serves as a valuable sanity check, but not a causal proof."</a:t>
            </a:r>
          </a:p>
          <a:p/>
          <a:p>
            <a:r>
              <a:t>*Transition:* "To make these models useful to store managers, we built an interactive application."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an operational decision-support tool in Streamlit. The architecture strictly decouples the presentation layer from the inference engine. </a:t>
            </a:r>
          </a:p>
          <a:p/>
          <a:p>
            <a:r>
              <a:t>The application loads frozen, pre-trained models—it performs forward inference only, with zero parameter mutation during user sessions. Store managers can input customer profiles, inspect recommended discounts, view expected conversion curves, and run counterfactual what-if simulations.</a:t>
            </a:r>
          </a:p>
          <a:p/>
          <a:p>
            <a:r>
              <a:t>Crucially, the app provides complete explainability: it decomposes the LinUCB score into expected mean payoff and uncertainty bonus, and explicitly states why forbidden arms were blocked by guardrails. It runs one hundred percent offline with zero cloud or API dependencies."</a:t>
            </a:r>
          </a:p>
          <a:p/>
          <a:p>
            <a:r>
              <a:t>*Transition:* "Let me summarize our primary contributions and conclusions."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a:t>
            </a:r>
          </a:p>
          <a:p>
            <a:r>
              <a:t>First, contextual bandits successfully learn price elasticity and maximize gross revenue, generating two hundred thirty-four thousand rupees and outperforming commercial rule-based systems in eighty percent of seeds.</a:t>
            </a:r>
          </a:p>
          <a:p/>
          <a:p>
            <a:r>
              <a:t>Second, sophisticated algorithms do not automatically beat simple heuristics on profit. Fixed 10% won because it avoided excessive margin concessions. Merchandisers must align reward functions with net cash margin rather than top-line volume.</a:t>
            </a:r>
          </a:p>
          <a:p/>
          <a:p>
            <a:r>
              <a:t>Third, deterministic guardrails are non-negotiable. Hard programmatic filtering achieved one hundred percent operational safety without disrupting learning.</a:t>
            </a:r>
          </a:p>
          <a:p/>
          <a:p>
            <a:r>
              <a:t>All results are derived within our calibrated simulator. Thank you, and I look forward to your questions."</a:t>
            </a:r>
          </a:p>
          <a:p/>
          <a:p>
            <a:r>
              <a:t>---</a:t>
            </a:r>
          </a:p>
          <a:p/>
          <a:p>
            <a:r>
              <a:t>## Defense &amp; Backup Notes (For Q&amp;A)</a:t>
            </a:r>
          </a:p>
          <a:p/>
          <a:p>
            <a:r>
              <a:t>### If asked about Slide 17 (Alpha Sensitivity):</a:t>
            </a:r>
          </a:p>
          <a:p>
            <a:r>
              <a:t>"We evaluated alpha from zero to five on separate tuning seeds to prevent evaluation bias. Alpha between 0.1 and 1.0 is extremely robust; alpha equal to 0.5 balanced early exploration without destabilizing late exploitation."</a:t>
            </a:r>
          </a:p>
          <a:p/>
          <a:p>
            <a:r>
              <a:t>### If asked about Slide 18 (Reward Penalty Ablation):</a:t>
            </a:r>
          </a:p>
          <a:p>
            <a:r>
              <a:t>"We tested adding a penalty lambda to the reward to discourage discounting. As lambda increased, the policy didn't become more nuanced—it collapsed toward zero discount everywhere, destroying revenue. This proves that hard guardrails are superior to soft penalty terms."</a:t>
            </a:r>
          </a:p>
          <a:p/>
          <a:p>
            <a:r>
              <a:t>### If asked about Slide 20 (Sherman-Morrison Inversion):</a:t>
            </a:r>
          </a:p>
          <a:p>
            <a:r>
              <a:t>"Inverting a twenty-by-twenty matrix at every round takes O(d-cubed) operations, or about eight thousand flops per update. Sherman-Morrison updates the inverse directly via an outer product in O(d-squared), or four hundred operations, enabling microsecond training on standard CPUs."</a:t>
            </a:r>
          </a:p>
          <a:p/>
          <a:p>
            <a:r>
              <a:t>### If asked about Slide 21 (Threats to Validity):</a:t>
            </a:r>
          </a:p>
          <a:p>
            <a:r>
              <a:t>"The three main limitations are: first, public data lacks individual customer keys, so the RFM registry is simulated; second, wholesale cost is modeled under an assumed 40% margin; third, training and evaluation share the same simulator. These are fully documented in Section 9 of our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645920"/>
            <a:ext cx="10332720" cy="3200400"/>
          </a:xfrm>
          <a:prstGeom prst="rect">
            <a:avLst/>
          </a:prstGeom>
          <a:noFill/>
        </p:spPr>
        <p:txBody>
          <a:bodyPr wrap="square">
            <a:spAutoFit/>
          </a:bodyPr>
          <a:lstStyle/>
          <a:p>
            <a:pPr>
              <a:defRPr sz="3600" b="1">
                <a:solidFill>
                  <a:srgbClr val="0F172A"/>
                </a:solidFill>
              </a:defRPr>
            </a:pPr>
            <a:r>
              <a:t>PERSONALIZED DYNAMIC DISCOUNT RECOMMENDATION</a:t>
            </a:r>
          </a:p>
          <a:p>
            <a:pPr>
              <a:spcBef>
                <a:spcPts val="1200"/>
              </a:spcBef>
              <a:defRPr sz="2200" b="1">
                <a:solidFill>
                  <a:srgbClr val="2563EB"/>
                </a:solidFill>
              </a:defRPr>
            </a:pPr>
            <a:r>
              <a:t>Contextual Multi-Armed Bandits with Commercial Guardrails &amp; Financial Ledgers</a:t>
            </a:r>
          </a:p>
          <a:p>
            <a:pPr>
              <a:spcBef>
                <a:spcPts val="2400"/>
              </a:spcBef>
              <a:defRPr sz="1500">
                <a:solidFill>
                  <a:srgbClr val="475569"/>
                </a:solidFill>
              </a:defRPr>
            </a:pPr>
            <a:r>
              <a:t>Final Year Technical Presentation • Machine Learning, Bandits &amp; Pricing Optimization</a:t>
            </a:r>
            <a:br/>
            <a:r>
              <a:t>Evaluated over 20,000 Online Rounds, 5,000 Frozen Rounds &amp; 73,100 Retail Records</a:t>
            </a:r>
          </a:p>
        </p:txBody>
      </p:sp>
      <p:sp>
        <p:nvSpPr>
          <p:cNvPr id="3" name="Rounded Rectangle 2"/>
          <p:cNvSpPr/>
          <p:nvPr/>
        </p:nvSpPr>
        <p:spPr>
          <a:xfrm>
            <a:off x="914400" y="5303520"/>
            <a:ext cx="3108960" cy="5029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563EB"/>
                </a:solidFill>
              </a:defRPr>
            </a:pPr>
            <a:r>
              <a:t>LinUCB &amp; Thompson Sampling</a:t>
            </a:r>
          </a:p>
        </p:txBody>
      </p:sp>
      <p:sp>
        <p:nvSpPr>
          <p:cNvPr id="4" name="Rounded Rectangle 3"/>
          <p:cNvSpPr/>
          <p:nvPr/>
        </p:nvSpPr>
        <p:spPr>
          <a:xfrm>
            <a:off x="4206240" y="5303520"/>
            <a:ext cx="3108960" cy="50292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defRPr>
            </a:pPr>
            <a:r>
              <a:t>Hard Margin &amp; Tier Guardrails</a:t>
            </a:r>
          </a:p>
        </p:txBody>
      </p:sp>
      <p:sp>
        <p:nvSpPr>
          <p:cNvPr id="5" name="Rounded Rectangle 4"/>
          <p:cNvSpPr/>
          <p:nvPr/>
        </p:nvSpPr>
        <p:spPr>
          <a:xfrm>
            <a:off x="7498080" y="5303520"/>
            <a:ext cx="3108960" cy="502920"/>
          </a:xfrm>
          <a:prstGeom prst="roundRect">
            <a:avLst/>
          </a:prstGeom>
          <a:solidFill>
            <a:srgbClr val="F8FAFC"/>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defRPr>
            </a:pPr>
            <a:r>
              <a:t>10-Seed Paired Benchmarks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BUSINESS MOTIVATION</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The Retail Dilemma: Revenue Volume vs. Profit Margin</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THE PROMOTIONAL DILEMMA</a:t>
            </a:r>
          </a:p>
          <a:p>
            <a:pPr>
              <a:spcBef>
                <a:spcPts val="1200"/>
              </a:spcBef>
              <a:defRPr sz="1400">
                <a:solidFill>
                  <a:srgbClr val="0F172A"/>
                </a:solidFill>
              </a:defRPr>
            </a:pPr>
            <a:r>
              <a:t>• Blanket Promotions Destroy Margin: Uniform 20% markdowns give discounts to shoppers who would happily pay full price.</a:t>
            </a:r>
          </a:p>
          <a:p>
            <a:pPr>
              <a:spcBef>
                <a:spcPts val="1200"/>
              </a:spcBef>
              <a:defRPr sz="1400">
                <a:solidFill>
                  <a:srgbClr val="0F172A"/>
                </a:solidFill>
              </a:defRPr>
            </a:pPr>
            <a:r>
              <a:t>• Deadweight Loss: Conceding margin on loyal customers generates zero incremental volume.</a:t>
            </a:r>
          </a:p>
          <a:p>
            <a:pPr>
              <a:spcBef>
                <a:spcPts val="1200"/>
              </a:spcBef>
              <a:defRPr sz="1400">
                <a:solidFill>
                  <a:srgbClr val="0F172A"/>
                </a:solidFill>
              </a:defRPr>
            </a:pPr>
            <a:r>
              <a:t>• Cart Abandonment: Denying discounts to price-sensitive shoppers forfeits sales.</a:t>
            </a:r>
          </a:p>
          <a:p>
            <a:pPr>
              <a:spcBef>
                <a:spcPts val="1200"/>
              </a:spcBef>
              <a:defRPr sz="1400">
                <a:solidFill>
                  <a:srgbClr val="0F172A"/>
                </a:solidFill>
              </a:defRPr>
            </a:pPr>
            <a:r>
              <a:t>• Static Rules Fail: Category-level rules cannot react to real-time competitor prices or inventory velocity.</a:t>
            </a:r>
          </a:p>
        </p:txBody>
      </p:sp>
      <p:sp>
        <p:nvSpPr>
          <p:cNvPr id="5" name="Rounded Rectangle 4"/>
          <p:cNvSpPr/>
          <p:nvPr/>
        </p:nvSpPr>
        <p:spPr>
          <a:xfrm>
            <a:off x="6217920" y="1645920"/>
            <a:ext cx="52120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PROJECT OBJECTIVE</a:t>
            </a:r>
          </a:p>
          <a:p>
            <a:pPr>
              <a:spcBef>
                <a:spcPts val="1200"/>
              </a:spcBef>
              <a:defRPr sz="1400">
                <a:solidFill>
                  <a:srgbClr val="0F172A"/>
                </a:solidFill>
              </a:defRPr>
            </a:pPr>
            <a:r>
              <a:t>• Personalized Recommendation: Learn price elasticity dynamically across 5 discount levels: {0%, 5%, 10%, 15%, 20%}.</a:t>
            </a:r>
          </a:p>
          <a:p>
            <a:pPr>
              <a:spcBef>
                <a:spcPts val="1200"/>
              </a:spcBef>
              <a:defRPr sz="1400">
                <a:solidFill>
                  <a:srgbClr val="0F172A"/>
                </a:solidFill>
              </a:defRPr>
            </a:pPr>
            <a:r>
              <a:t>• Hard Commercial Guardrails: Programmatically guarantee zero below-cost sales and respect loyalty tier ceilings.</a:t>
            </a:r>
          </a:p>
          <a:p>
            <a:pPr>
              <a:spcBef>
                <a:spcPts val="1200"/>
              </a:spcBef>
              <a:defRPr sz="1400">
                <a:solidFill>
                  <a:srgbClr val="0F172A"/>
                </a:solidFill>
              </a:defRPr>
            </a:pPr>
            <a:r>
              <a:t>• Net Profit Reward: Optimize strictly for net profit cash flow rather than deceptive vanity revenue.</a:t>
            </a:r>
          </a:p>
          <a:p>
            <a:pPr>
              <a:spcBef>
                <a:spcPts val="1200"/>
              </a:spcBef>
              <a:defRPr sz="1400">
                <a:solidFill>
                  <a:srgbClr val="0F172A"/>
                </a:solidFill>
              </a:defRPr>
            </a:pPr>
            <a:r>
              <a:t>• Frontline Explainability: Provide merchandisers with transparent score decompositions and what-if simulation.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METHODOLOGY</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Why Contextual Bandits? Solving Exploration vs. Exploitation</a:t>
            </a:r>
          </a:p>
        </p:txBody>
      </p:sp>
      <p:sp>
        <p:nvSpPr>
          <p:cNvPr id="4" name="Rounded Rectangle 3"/>
          <p:cNvSpPr/>
          <p:nvPr/>
        </p:nvSpPr>
        <p:spPr>
          <a:xfrm>
            <a:off x="731520" y="1645920"/>
            <a:ext cx="3291840" cy="4389120"/>
          </a:xfrm>
          <a:prstGeom prst="roundRect">
            <a:avLst/>
          </a:prstGeom>
          <a:solidFill>
            <a:srgbClr val="F8FAFC"/>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F4444"/>
                </a:solidFill>
              </a:defRPr>
            </a:pPr>
            <a:r>
              <a:t>Static A/B Testing</a:t>
            </a:r>
          </a:p>
          <a:p>
            <a:pPr>
              <a:spcBef>
                <a:spcPts val="400"/>
              </a:spcBef>
              <a:defRPr sz="1300" b="1">
                <a:solidFill>
                  <a:srgbClr val="475569"/>
                </a:solidFill>
              </a:defRPr>
            </a:pPr>
            <a:r>
              <a:t>High Opportunity Cost</a:t>
            </a:r>
          </a:p>
          <a:p>
            <a:pPr>
              <a:spcBef>
                <a:spcPts val="1600"/>
              </a:spcBef>
              <a:defRPr sz="1400">
                <a:solidFill>
                  <a:srgbClr val="0F172A"/>
                </a:solidFill>
              </a:defRPr>
            </a:pPr>
            <a:r>
              <a:t>Forces 50% traffic to underperforming prices for weeks to achieve significance; millions lost in margin.</a:t>
            </a:r>
          </a:p>
        </p:txBody>
      </p:sp>
      <p:sp>
        <p:nvSpPr>
          <p:cNvPr id="5" name="Rounded Rectangle 4"/>
          <p:cNvSpPr/>
          <p:nvPr/>
        </p:nvSpPr>
        <p:spPr>
          <a:xfrm>
            <a:off x="4297680" y="1645920"/>
            <a:ext cx="3291840" cy="4389120"/>
          </a:xfrm>
          <a:prstGeom prst="roundRect">
            <a:avLst/>
          </a:prstGeom>
          <a:solidFill>
            <a:srgbClr val="F8FAFC"/>
          </a:solidFill>
          <a:ln w="254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475569"/>
                </a:solidFill>
              </a:defRPr>
            </a:pPr>
            <a:r>
              <a:t>Full Reinforcement Learning</a:t>
            </a:r>
          </a:p>
          <a:p>
            <a:pPr>
              <a:spcBef>
                <a:spcPts val="400"/>
              </a:spcBef>
              <a:defRPr sz="1300" b="1">
                <a:solidFill>
                  <a:srgbClr val="475569"/>
                </a:solidFill>
              </a:defRPr>
            </a:pPr>
            <a:r>
              <a:t>Unnecessary Complexity</a:t>
            </a:r>
          </a:p>
          <a:p>
            <a:pPr>
              <a:spcBef>
                <a:spcPts val="1600"/>
              </a:spcBef>
              <a:defRPr sz="1400">
                <a:solidFill>
                  <a:srgbClr val="0F172A"/>
                </a:solidFill>
              </a:defRPr>
            </a:pPr>
            <a:r>
              <a:t>Full RL assumes Markovian state transitions (s_t+1 ~ P(s_t, a_t)). Retail transactions are exogenous; customer arrivals do not depend on past discounts.</a:t>
            </a:r>
          </a:p>
        </p:txBody>
      </p:sp>
      <p:sp>
        <p:nvSpPr>
          <p:cNvPr id="6" name="Rounded Rectangle 5"/>
          <p:cNvSpPr/>
          <p:nvPr/>
        </p:nvSpPr>
        <p:spPr>
          <a:xfrm>
            <a:off x="7863840" y="1645920"/>
            <a:ext cx="3291840" cy="43891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563EB"/>
                </a:solidFill>
              </a:defRPr>
            </a:pPr>
            <a:r>
              <a:t>Contextual Bandits</a:t>
            </a:r>
          </a:p>
          <a:p>
            <a:pPr>
              <a:spcBef>
                <a:spcPts val="400"/>
              </a:spcBef>
              <a:defRPr sz="1300" b="1">
                <a:solidFill>
                  <a:srgbClr val="475569"/>
                </a:solidFill>
              </a:defRPr>
            </a:pPr>
            <a:r>
              <a:t>The Optimal Balance</a:t>
            </a:r>
          </a:p>
          <a:p>
            <a:pPr>
              <a:spcBef>
                <a:spcPts val="1600"/>
              </a:spcBef>
              <a:defRPr sz="1400">
                <a:solidFill>
                  <a:srgbClr val="0F172A"/>
                </a:solidFill>
              </a:defRPr>
            </a:pPr>
            <a:r>
              <a:t>Condition actions on context x_t, explore price elasticity optimistically, bound cumulative regret, and achieve high sample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ALGORITHMS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Algorithmic Architecture: LinUCB &amp; Thompson Sampling</a:t>
            </a:r>
          </a:p>
        </p:txBody>
      </p:sp>
      <p:sp>
        <p:nvSpPr>
          <p:cNvPr id="4" name="Rounded Rectangle 3"/>
          <p:cNvSpPr/>
          <p:nvPr/>
        </p:nvSpPr>
        <p:spPr>
          <a:xfrm>
            <a:off x="731520" y="1645920"/>
            <a:ext cx="5120640" cy="438912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563EB"/>
                </a:solidFill>
              </a:defRPr>
            </a:pPr>
            <a:r>
              <a:t>LinUCB (with Sherman-Morrison)</a:t>
            </a:r>
          </a:p>
          <a:p>
            <a:pPr>
              <a:spcBef>
                <a:spcPts val="1200"/>
              </a:spcBef>
              <a:defRPr sz="1400">
                <a:solidFill>
                  <a:srgbClr val="0F172A"/>
                </a:solidFill>
              </a:defRPr>
            </a:pPr>
            <a:r>
              <a:t>• Optimistic Score: p_{t,a} = x_t^T theta_a + alpha * sqrt(x_t^T A_a^-1 x_t)</a:t>
            </a:r>
          </a:p>
          <a:p>
            <a:pPr>
              <a:spcBef>
                <a:spcPts val="1200"/>
              </a:spcBef>
              <a:defRPr sz="1400">
                <a:solidFill>
                  <a:srgbClr val="0F172A"/>
                </a:solidFill>
              </a:defRPr>
            </a:pPr>
            <a:r>
              <a:t>• Exploration vs. Exploitation: Expected profit estimate + uncertainty bonus.</a:t>
            </a:r>
          </a:p>
          <a:p>
            <a:pPr>
              <a:spcBef>
                <a:spcPts val="1200"/>
              </a:spcBef>
              <a:defRPr sz="1400">
                <a:solidFill>
                  <a:srgbClr val="0F172A"/>
                </a:solidFill>
              </a:defRPr>
            </a:pPr>
            <a:r>
              <a:t>• Sherman-Morrison Inversion: Updates inverse covariance directly in O(d^2) instead of O(d^3), cutting update latency to microseconds.</a:t>
            </a:r>
          </a:p>
          <a:p>
            <a:pPr>
              <a:spcBef>
                <a:spcPts val="1200"/>
              </a:spcBef>
              <a:defRPr sz="1400">
                <a:solidFill>
                  <a:srgbClr val="0F172A"/>
                </a:solidFill>
              </a:defRPr>
            </a:pPr>
            <a:r>
              <a:t>• Hyperparameters: alpha = 0.5, context dimension d = 20.</a:t>
            </a:r>
          </a:p>
        </p:txBody>
      </p:sp>
      <p:sp>
        <p:nvSpPr>
          <p:cNvPr id="5" name="Rounded Rectangle 4"/>
          <p:cNvSpPr/>
          <p:nvPr/>
        </p:nvSpPr>
        <p:spPr>
          <a:xfrm>
            <a:off x="6217920" y="1645920"/>
            <a:ext cx="5212080" cy="4389120"/>
          </a:xfrm>
          <a:prstGeom prst="roundRect">
            <a:avLst/>
          </a:prstGeom>
          <a:solidFill>
            <a:srgbClr val="F8FAFC"/>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8B5CF6"/>
                </a:solidFill>
              </a:defRPr>
            </a:pPr>
            <a:r>
              <a:t>Contextual Thompson Sampling</a:t>
            </a:r>
          </a:p>
          <a:p>
            <a:pPr>
              <a:spcBef>
                <a:spcPts val="1200"/>
              </a:spcBef>
              <a:defRPr sz="1400">
                <a:solidFill>
                  <a:srgbClr val="0F172A"/>
                </a:solidFill>
              </a:defRPr>
            </a:pPr>
            <a:r>
              <a:t>• Bayesian Formulation: Maintains conjugate Gaussian posterior over arm parameters theta_a ~ N(theta_hat_a, v^2 B_a^-1).</a:t>
            </a:r>
          </a:p>
          <a:p>
            <a:pPr>
              <a:spcBef>
                <a:spcPts val="1200"/>
              </a:spcBef>
              <a:defRPr sz="1400">
                <a:solidFill>
                  <a:srgbClr val="0F172A"/>
                </a:solidFill>
              </a:defRPr>
            </a:pPr>
            <a:r>
              <a:t>• Probability Matching: Draws random parameter vector tilde_theta_a and selects greedy action.</a:t>
            </a:r>
          </a:p>
          <a:p>
            <a:pPr>
              <a:spcBef>
                <a:spcPts val="1200"/>
              </a:spcBef>
              <a:defRPr sz="1400">
                <a:solidFill>
                  <a:srgbClr val="0F172A"/>
                </a:solidFill>
              </a:defRPr>
            </a:pPr>
            <a:r>
              <a:t>• Natural Exploration: Wide posterior dispersion explores uncertain arms; tight posterior exploits confident arms.</a:t>
            </a:r>
          </a:p>
          <a:p>
            <a:pPr>
              <a:spcBef>
                <a:spcPts val="1200"/>
              </a:spcBef>
              <a:defRPr sz="1400">
                <a:solidFill>
                  <a:srgbClr val="0F172A"/>
                </a:solidFill>
              </a:defRPr>
            </a:pPr>
            <a:r>
              <a:t>• Hyperparameters: Noise multiplier sigma = 0.5, spherical prior.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SYSTEM SAFETY</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The Commercial Safety Envelope: Hard Guardrails</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GUARDRAIL ARCHITECTURE</a:t>
            </a:r>
          </a:p>
          <a:p>
            <a:pPr>
              <a:spcBef>
                <a:spcPts val="1200"/>
              </a:spcBef>
              <a:defRPr sz="1400">
                <a:solidFill>
                  <a:srgbClr val="0F172A"/>
                </a:solidFill>
              </a:defRPr>
            </a:pPr>
            <a:r>
              <a:t>• Deterministic Pruning: Filter action space A to eligible subset A_t before bandit scoring.</a:t>
            </a:r>
          </a:p>
          <a:p>
            <a:pPr>
              <a:spcBef>
                <a:spcPts val="1200"/>
              </a:spcBef>
              <a:defRPr sz="1400">
                <a:solidFill>
                  <a:srgbClr val="0F172A"/>
                </a:solidFill>
              </a:defRPr>
            </a:pPr>
            <a:r>
              <a:t>• Loyalty Tier Caps: New customer max 5%; Regular max 15%; Loyal max 20%.</a:t>
            </a:r>
          </a:p>
          <a:p>
            <a:pPr>
              <a:spcBef>
                <a:spcPts val="1200"/>
              </a:spcBef>
              <a:defRPr sz="1400">
                <a:solidFill>
                  <a:srgbClr val="0F172A"/>
                </a:solidFill>
              </a:defRPr>
            </a:pPr>
            <a:r>
              <a:t>• Unit Cost Margin Floor: DiscountedPrice &gt;= CostPrice + MarginFloor.</a:t>
            </a:r>
          </a:p>
          <a:p>
            <a:pPr>
              <a:spcBef>
                <a:spcPts val="1200"/>
              </a:spcBef>
              <a:defRPr sz="1400">
                <a:solidFill>
                  <a:srgbClr val="0F172A"/>
                </a:solidFill>
              </a:defRPr>
            </a:pPr>
            <a:r>
              <a:t>• Safe Fallback: If all promotional arms are disqualified, defaults cleanly to 0% full price.</a:t>
            </a:r>
          </a:p>
        </p:txBody>
      </p:sp>
      <p:sp>
        <p:nvSpPr>
          <p:cNvPr id="5" name="Rounded Rectangle 4"/>
          <p:cNvSpPr/>
          <p:nvPr/>
        </p:nvSpPr>
        <p:spPr>
          <a:xfrm>
            <a:off x="6217920" y="1645920"/>
            <a:ext cx="52120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HISTORICAL AUDIT &amp; COMPLIANCE</a:t>
            </a:r>
          </a:p>
          <a:p>
            <a:pPr>
              <a:spcBef>
                <a:spcPts val="1200"/>
              </a:spcBef>
              <a:defRPr sz="1400">
                <a:solidFill>
                  <a:srgbClr val="0F172A"/>
                </a:solidFill>
              </a:defRPr>
            </a:pPr>
            <a:r>
              <a:t>• 100% Online Compliance: Exactly 0 margin floor breaches and 0 tier violations across 200,000 rounds.</a:t>
            </a:r>
          </a:p>
          <a:p>
            <a:pPr>
              <a:spcBef>
                <a:spcPts val="1200"/>
              </a:spcBef>
              <a:defRPr sz="1400">
                <a:solidFill>
                  <a:srgbClr val="0F172A"/>
                </a:solidFill>
              </a:defRPr>
            </a:pPr>
            <a:r>
              <a:t>• 39.04% Historical Violation Rate: 39% of historical Kaggle records violate tier rules.</a:t>
            </a:r>
          </a:p>
          <a:p>
            <a:pPr>
              <a:spcBef>
                <a:spcPts val="1200"/>
              </a:spcBef>
              <a:defRPr sz="1400">
                <a:solidFill>
                  <a:srgbClr val="0F172A"/>
                </a:solidFill>
              </a:defRPr>
            </a:pPr>
            <a:r>
              <a:t>• Why Hard Rules Win: Historical discounts were uncoordinated; machine learning without hard guardrails will replicate bad historical practices.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DATA FOUNDATION</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Data Pipeline &amp; Strict Scientific Boundary</a:t>
            </a:r>
          </a:p>
        </p:txBody>
      </p:sp>
      <p:sp>
        <p:nvSpPr>
          <p:cNvPr id="4" name="Rounded Rectangle 3"/>
          <p:cNvSpPr/>
          <p:nvPr/>
        </p:nvSpPr>
        <p:spPr>
          <a:xfrm>
            <a:off x="731520" y="1645920"/>
            <a:ext cx="5120640" cy="438912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563EB"/>
                </a:solidFill>
              </a:defRPr>
            </a:pPr>
            <a:r>
              <a:t>PUBLIC RETAIL DATASET (Kaggle)</a:t>
            </a:r>
          </a:p>
          <a:p>
            <a:pPr>
              <a:spcBef>
                <a:spcPts val="1200"/>
              </a:spcBef>
              <a:defRPr sz="1400">
                <a:solidFill>
                  <a:srgbClr val="0F172A"/>
                </a:solidFill>
              </a:defRPr>
            </a:pPr>
            <a:r>
              <a:t>• 73,100 Clean Records: Store/product/day observations across multiple retail categories.</a:t>
            </a:r>
          </a:p>
          <a:p>
            <a:pPr>
              <a:spcBef>
                <a:spcPts val="1200"/>
              </a:spcBef>
              <a:defRPr sz="1400">
                <a:solidFill>
                  <a:srgbClr val="0F172A"/>
                </a:solidFill>
              </a:defRPr>
            </a:pPr>
            <a:r>
              <a:t>• Observable Contexts: Shelf BasePrice, CompetitorPrice, Stock levels, Historical Demand.</a:t>
            </a:r>
          </a:p>
          <a:p>
            <a:pPr>
              <a:spcBef>
                <a:spcPts val="1200"/>
              </a:spcBef>
              <a:defRPr sz="1400">
                <a:solidFill>
                  <a:srgbClr val="0F172A"/>
                </a:solidFill>
              </a:defRPr>
            </a:pPr>
            <a:r>
              <a:t>• Derived Features: PriceGapPct, StockCoverageDays, DemandToInventoryRatio, Cyclical month/day.</a:t>
            </a:r>
          </a:p>
          <a:p>
            <a:pPr>
              <a:spcBef>
                <a:spcPts val="1200"/>
              </a:spcBef>
              <a:defRPr sz="1400">
                <a:solidFill>
                  <a:srgbClr val="0F172A"/>
                </a:solidFill>
              </a:defRPr>
            </a:pPr>
            <a:r>
              <a:t>• No Customer Identifiers: Public dataset lacks individual shopper tracking.</a:t>
            </a:r>
          </a:p>
        </p:txBody>
      </p:sp>
      <p:sp>
        <p:nvSpPr>
          <p:cNvPr id="5" name="Rounded Rectangle 4"/>
          <p:cNvSpPr/>
          <p:nvPr/>
        </p:nvSpPr>
        <p:spPr>
          <a:xfrm>
            <a:off x="6217920" y="1645920"/>
            <a:ext cx="5212080" cy="4389120"/>
          </a:xfrm>
          <a:prstGeom prst="roundRect">
            <a:avLst/>
          </a:prstGeom>
          <a:solidFill>
            <a:srgbClr val="F8FAFC"/>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SIMULATED COMPONENTS (Strict Honesty)</a:t>
            </a:r>
          </a:p>
          <a:p>
            <a:pPr>
              <a:spcBef>
                <a:spcPts val="1200"/>
              </a:spcBef>
              <a:defRPr sz="1400">
                <a:solidFill>
                  <a:srgbClr val="0F172A"/>
                </a:solidFill>
              </a:defRPr>
            </a:pPr>
            <a:r>
              <a:t>• 8,000 Synthetic Customers: Longitudinal RFM profiles (New, Regular, Loyal) simulated by design.</a:t>
            </a:r>
          </a:p>
          <a:p>
            <a:pPr>
              <a:spcBef>
                <a:spcPts val="1200"/>
              </a:spcBef>
              <a:defRPr sz="1400">
                <a:solidFill>
                  <a:srgbClr val="0F172A"/>
                </a:solidFill>
              </a:defRPr>
            </a:pPr>
            <a:r>
              <a:t>• Purchase Outcomes: Stochastic conversion and basket sizes generated via simulator.</a:t>
            </a:r>
          </a:p>
          <a:p>
            <a:pPr>
              <a:spcBef>
                <a:spcPts val="1200"/>
              </a:spcBef>
              <a:defRPr sz="1400">
                <a:solidFill>
                  <a:srgbClr val="0F172A"/>
                </a:solidFill>
              </a:defRPr>
            </a:pPr>
            <a:r>
              <a:t>• Assumed 40% Margin Rate: CostPrice = 0.60 * BasePrice; no real wholesale supplier invoices.</a:t>
            </a:r>
          </a:p>
          <a:p>
            <a:pPr>
              <a:spcBef>
                <a:spcPts val="1200"/>
              </a:spcBef>
              <a:defRPr sz="1400">
                <a:solidFill>
                  <a:srgbClr val="0F172A"/>
                </a:solidFill>
              </a:defRPr>
            </a:pPr>
            <a:r>
              <a:t>• Simulated Rupees (Rs): All financial figures represent simulated currency units.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SIMULATION</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Demand Calibration &amp; Simulation Environment</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172A"/>
                </a:solidFill>
              </a:defRPr>
            </a:pPr>
            <a:r>
              <a:t>LOGISTIC DEMAND CALIBRATION (ROC-AUC = 0.6322)</a:t>
            </a:r>
          </a:p>
          <a:p>
            <a:pPr>
              <a:spcBef>
                <a:spcPts val="1400"/>
              </a:spcBef>
              <a:defRPr sz="1500">
                <a:solidFill>
                  <a:srgbClr val="0F172A"/>
                </a:solidFill>
              </a:defRPr>
            </a:pPr>
            <a:r>
              <a:t>• Purchase Probability Equation: P(Y=1|x, a) = sigma( beta_0 + beta_disc * a + beta_sens * Sensitivity + beta_gap * PriceGapPct + beta_stock * StockRatio )</a:t>
            </a:r>
          </a:p>
          <a:p>
            <a:pPr>
              <a:spcBef>
                <a:spcPts val="1400"/>
              </a:spcBef>
              <a:defRPr sz="1500">
                <a:solidFill>
                  <a:srgbClr val="0F172A"/>
                </a:solidFill>
              </a:defRPr>
            </a:pPr>
            <a:r>
              <a:t>• Empirically Calibrated: Logistic regression fitted to historical demand tertiles yields ROC-AUC of 0.6322.</a:t>
            </a:r>
          </a:p>
          <a:p>
            <a:pPr>
              <a:spcBef>
                <a:spcPts val="1400"/>
              </a:spcBef>
              <a:defRPr sz="1500">
                <a:solidFill>
                  <a:srgbClr val="0F172A"/>
                </a:solidFill>
              </a:defRPr>
            </a:pPr>
            <a:r>
              <a:t>• Realistic Residual Noise: A modest AUC of 0.63 confirms realistic retail variance without artificial deterministic shortcuts.</a:t>
            </a:r>
          </a:p>
          <a:p>
            <a:pPr>
              <a:spcBef>
                <a:spcPts val="1400"/>
              </a:spcBef>
              <a:defRPr sz="1500">
                <a:solidFill>
                  <a:srgbClr val="0F172A"/>
                </a:solidFill>
              </a:defRPr>
            </a:pPr>
            <a:r>
              <a:t>• Omniscient Counterfactual Oracle: Simulator evaluates expected profit across all 5 arms simultaneously, providing exact regret ground truth.</a:t>
            </a:r>
          </a:p>
          <a:p>
            <a:pPr>
              <a:spcBef>
                <a:spcPts val="1400"/>
              </a:spcBef>
              <a:defRPr sz="1500">
                <a:solidFill>
                  <a:srgbClr val="0F172A"/>
                </a:solidFill>
              </a:defRPr>
            </a:pPr>
            <a:r>
              <a:t>• Reproducible Synchronized Sequences: Pre-generated 20,000-round sequences with per-round seeds guarantee identical context arrivals for all policies.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EVALUATION</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Dual Evaluation Protocol: Online vs. Frozen Modes</a:t>
            </a:r>
          </a:p>
        </p:txBody>
      </p:sp>
      <p:sp>
        <p:nvSpPr>
          <p:cNvPr id="4" name="Rounded Rectangle 3"/>
          <p:cNvSpPr/>
          <p:nvPr/>
        </p:nvSpPr>
        <p:spPr>
          <a:xfrm>
            <a:off x="731520" y="1645920"/>
            <a:ext cx="3291840" cy="43891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563EB"/>
                </a:solidFill>
              </a:defRPr>
            </a:pPr>
            <a:r>
              <a:t>Online Mode (20k Rounds)</a:t>
            </a:r>
          </a:p>
          <a:p>
            <a:pPr>
              <a:spcBef>
                <a:spcPts val="400"/>
              </a:spcBef>
              <a:defRPr sz="1300" b="1">
                <a:solidFill>
                  <a:srgbClr val="475569"/>
                </a:solidFill>
              </a:defRPr>
            </a:pPr>
            <a:r>
              <a:t>In-Flight Learning</a:t>
            </a:r>
          </a:p>
          <a:p>
            <a:pPr>
              <a:spcBef>
                <a:spcPts val="1600"/>
              </a:spcBef>
              <a:defRPr sz="1400">
                <a:solidFill>
                  <a:srgbClr val="0F172A"/>
                </a:solidFill>
              </a:defRPr>
            </a:pPr>
            <a:r>
              <a:t>Cold-start deployment; actively explores, incurs exploration regret, updates parameters after each round.</a:t>
            </a:r>
          </a:p>
        </p:txBody>
      </p:sp>
      <p:sp>
        <p:nvSpPr>
          <p:cNvPr id="5" name="Rounded Rectangle 4"/>
          <p:cNvSpPr/>
          <p:nvPr/>
        </p:nvSpPr>
        <p:spPr>
          <a:xfrm>
            <a:off x="4297680" y="1645920"/>
            <a:ext cx="3291840" cy="438912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Frozen Mode (5k Rounds)</a:t>
            </a:r>
          </a:p>
          <a:p>
            <a:pPr>
              <a:spcBef>
                <a:spcPts val="400"/>
              </a:spcBef>
              <a:defRPr sz="1300" b="1">
                <a:solidFill>
                  <a:srgbClr val="475569"/>
                </a:solidFill>
              </a:defRPr>
            </a:pPr>
            <a:r>
              <a:t>Operational Deployment</a:t>
            </a:r>
          </a:p>
          <a:p>
            <a:pPr>
              <a:spcBef>
                <a:spcPts val="1600"/>
              </a:spcBef>
              <a:defRPr sz="1400">
                <a:solidFill>
                  <a:srgbClr val="0F172A"/>
                </a:solidFill>
              </a:defRPr>
            </a:pPr>
            <a:r>
              <a:t>Pre-trained weights locked; evaluates operational policy on held-out rounds with zero model mutation.</a:t>
            </a:r>
          </a:p>
        </p:txBody>
      </p:sp>
      <p:sp>
        <p:nvSpPr>
          <p:cNvPr id="6" name="Rounded Rectangle 5"/>
          <p:cNvSpPr/>
          <p:nvPr/>
        </p:nvSpPr>
        <p:spPr>
          <a:xfrm>
            <a:off x="7863840" y="1645920"/>
            <a:ext cx="3291840" cy="4389120"/>
          </a:xfrm>
          <a:prstGeom prst="roundRect">
            <a:avLst/>
          </a:prstGeom>
          <a:solidFill>
            <a:srgbClr val="F8FAFC"/>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172A"/>
                </a:solidFill>
              </a:defRPr>
            </a:pPr>
            <a:r>
              <a:t>Multi-Seed Paired Protocol</a:t>
            </a:r>
          </a:p>
          <a:p>
            <a:pPr>
              <a:spcBef>
                <a:spcPts val="400"/>
              </a:spcBef>
              <a:defRPr sz="1300" b="1">
                <a:solidFill>
                  <a:srgbClr val="475569"/>
                </a:solidFill>
              </a:defRPr>
            </a:pPr>
            <a:r>
              <a:t>Distributional Robustness</a:t>
            </a:r>
          </a:p>
          <a:p>
            <a:pPr>
              <a:spcBef>
                <a:spcPts val="1600"/>
              </a:spcBef>
              <a:defRPr sz="1400">
                <a:solidFill>
                  <a:srgbClr val="0F172A"/>
                </a:solidFill>
              </a:defRPr>
            </a:pPr>
            <a:r>
              <a:t>10 independent random seeds (Seeds 42–51). Identical arrivals allow paired lift comparisons and win counts.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RESULTS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Headline Result: The Profit Paradox (Fixed 10% Won)</a:t>
            </a:r>
          </a:p>
        </p:txBody>
      </p:sp>
      <p:pic>
        <p:nvPicPr>
          <p:cNvPr id="4" name="Picture 3" descr="cumulative_profit_slide.png"/>
          <p:cNvPicPr>
            <a:picLocks noChangeAspect="1"/>
          </p:cNvPicPr>
          <p:nvPr/>
        </p:nvPicPr>
        <p:blipFill>
          <a:blip r:embed="rId3"/>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PROFIT OUTCOMES (10 Seeds)</a:t>
            </a:r>
          </a:p>
          <a:p>
            <a:pPr>
              <a:spcBef>
                <a:spcPts val="1000"/>
              </a:spcBef>
              <a:defRPr sz="1300">
                <a:solidFill>
                  <a:srgbClr val="0F172A"/>
                </a:solidFill>
              </a:defRPr>
            </a:pPr>
            <a:r>
              <a:t>• Fixed 10%: Rs 80,265.41 +/- 1,788 (Profit Winner).</a:t>
            </a:r>
          </a:p>
          <a:p>
            <a:pPr>
              <a:spcBef>
                <a:spcPts val="1000"/>
              </a:spcBef>
              <a:defRPr sz="1300">
                <a:solidFill>
                  <a:srgbClr val="0F172A"/>
                </a:solidFill>
              </a:defRPr>
            </a:pPr>
            <a:r>
              <a:t>• LinUCB: Rs 78,924.82 +/- 788 (-1.67% deficit, won 1/10 seeds).</a:t>
            </a:r>
          </a:p>
          <a:p>
            <a:pPr>
              <a:spcBef>
                <a:spcPts val="1000"/>
              </a:spcBef>
              <a:defRPr sz="1300">
                <a:solidFill>
                  <a:srgbClr val="0F172A"/>
                </a:solidFill>
              </a:defRPr>
            </a:pPr>
            <a:r>
              <a:t>• Thompson: Rs 78,856.21 +/- 1,028 (-1.76% deficit, won 2/10 seeds).</a:t>
            </a:r>
          </a:p>
          <a:p>
            <a:pPr>
              <a:spcBef>
                <a:spcPts val="1000"/>
              </a:spcBef>
              <a:defRPr sz="1300">
                <a:solidFill>
                  <a:srgbClr val="0F172A"/>
                </a:solidFill>
              </a:defRPr>
            </a:pPr>
            <a:r>
              <a:t>• Why Heuristic Won: Flat 10% hit the elasticity sweet spot—stimulated conversions without paying the steep margin penalty of 15% or 20% markdowns.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RESULTS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Headline Result: LinUCB Led Top-Line Gross Revenue</a:t>
            </a:r>
          </a:p>
        </p:txBody>
      </p:sp>
      <p:pic>
        <p:nvPicPr>
          <p:cNvPr id="4" name="Picture 3" descr="profit_vs_discount_scatter_slide.png"/>
          <p:cNvPicPr>
            <a:picLocks noChangeAspect="1"/>
          </p:cNvPicPr>
          <p:nvPr/>
        </p:nvPicPr>
        <p:blipFill>
          <a:blip r:embed="rId3"/>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563EB"/>
                </a:solidFill>
              </a:defRPr>
            </a:pPr>
            <a:r>
              <a:t>REVENUE &amp; CONVERSION</a:t>
            </a:r>
          </a:p>
          <a:p>
            <a:pPr>
              <a:spcBef>
                <a:spcPts val="1000"/>
              </a:spcBef>
              <a:defRPr sz="1300">
                <a:solidFill>
                  <a:srgbClr val="0F172A"/>
                </a:solidFill>
              </a:defRPr>
            </a:pPr>
            <a:r>
              <a:t>• Revenue Winner: LinUCB achieved Rs 234,276.84 +/- 4,477.</a:t>
            </a:r>
          </a:p>
          <a:p>
            <a:pPr>
              <a:spcBef>
                <a:spcPts val="1000"/>
              </a:spcBef>
              <a:defRPr sz="1300">
                <a:solidFill>
                  <a:srgbClr val="0F172A"/>
                </a:solidFill>
              </a:defRPr>
            </a:pPr>
            <a:r>
              <a:t>• Conversion Lift: LinUCB achieved 24.29% conversion vs. 23.81% for Fixed 10%.</a:t>
            </a:r>
          </a:p>
          <a:p>
            <a:pPr>
              <a:spcBef>
                <a:spcPts val="1000"/>
              </a:spcBef>
              <a:defRPr sz="1300">
                <a:solidFill>
                  <a:srgbClr val="0F172A"/>
                </a:solidFill>
              </a:defRPr>
            </a:pPr>
            <a:r>
              <a:t>• Higher Discount Offered: LinUCB offered 8.45% avg discount vs. 8.09% for Fixed 10%.</a:t>
            </a:r>
          </a:p>
          <a:p>
            <a:pPr>
              <a:spcBef>
                <a:spcPts val="1000"/>
              </a:spcBef>
              <a:defRPr sz="1300">
                <a:solidFill>
                  <a:srgbClr val="0F172A"/>
                </a:solidFill>
              </a:defRPr>
            </a:pPr>
            <a:r>
              <a:t>• Lift vs. Rule-Based: LinUCB beat Rule-based on profit (+Rs 492.50, won in 8 of 10 seeds).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CONVERGENCE</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Learning Dynamics &amp; Regret Convergence</a:t>
            </a:r>
          </a:p>
        </p:txBody>
      </p:sp>
      <p:pic>
        <p:nvPicPr>
          <p:cNvPr id="4" name="Picture 3" descr="regret_curves_slide.png"/>
          <p:cNvPicPr>
            <a:picLocks noChangeAspect="1"/>
          </p:cNvPicPr>
          <p:nvPr/>
        </p:nvPicPr>
        <p:blipFill>
          <a:blip r:embed="rId3"/>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REGRET CONVERGENCE</a:t>
            </a:r>
          </a:p>
          <a:p>
            <a:pPr>
              <a:spcBef>
                <a:spcPts val="1000"/>
              </a:spcBef>
              <a:defRPr sz="1300">
                <a:solidFill>
                  <a:srgbClr val="0F172A"/>
                </a:solidFill>
              </a:defRPr>
            </a:pPr>
            <a:r>
              <a:t>• Sublinear Flattening: Regret drops from Rs 0.229/round (early) to Rs 0.092/round (late).</a:t>
            </a:r>
          </a:p>
          <a:p>
            <a:pPr>
              <a:spcBef>
                <a:spcPts val="1000"/>
              </a:spcBef>
              <a:defRPr sz="1300">
                <a:solidFill>
                  <a:srgbClr val="0F172A"/>
                </a:solidFill>
              </a:defRPr>
            </a:pPr>
            <a:r>
              <a:t>• Final Regret (Seed 42): LinUCB Rs 1,754.14; Thompson Sampling Rs 1,075.28.</a:t>
            </a:r>
          </a:p>
          <a:p>
            <a:pPr>
              <a:spcBef>
                <a:spcPts val="1000"/>
              </a:spcBef>
              <a:defRPr sz="1300">
                <a:solidFill>
                  <a:srgbClr val="0F172A"/>
                </a:solidFill>
              </a:defRPr>
            </a:pPr>
            <a:r>
              <a:t>• Oracle Alignment: Thompson matched oracle 62.2% of rounds vs. 16.9% for LinUCB.</a:t>
            </a:r>
          </a:p>
          <a:p>
            <a:pPr>
              <a:spcBef>
                <a:spcPts val="1000"/>
              </a:spcBef>
              <a:defRPr sz="1300">
                <a:solidFill>
                  <a:srgbClr val="0F172A"/>
                </a:solidFill>
              </a:defRPr>
            </a:pPr>
            <a:r>
              <a:t>• Non-Zero Asymptote: Irreducible functional approximation gap because linear models cannot fit sigmoidal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FINANCIAL VIEW</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Financial Ledger: Exploration Tax &amp; Break-Even Dynamics</a:t>
            </a:r>
          </a:p>
        </p:txBody>
      </p:sp>
      <p:pic>
        <p:nvPicPr>
          <p:cNvPr id="4" name="Picture 3" descr="gain_loss_slide.png"/>
          <p:cNvPicPr>
            <a:picLocks noChangeAspect="1"/>
          </p:cNvPicPr>
          <p:nvPr/>
        </p:nvPicPr>
        <p:blipFill>
          <a:blip r:embed="rId3"/>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563EB"/>
                </a:solidFill>
              </a:defRPr>
            </a:pPr>
            <a:r>
              <a:t>LEDGER CASH FLOWS</a:t>
            </a:r>
          </a:p>
          <a:p>
            <a:pPr>
              <a:spcBef>
                <a:spcPts val="1000"/>
              </a:spcBef>
              <a:defRPr sz="1300">
                <a:solidFill>
                  <a:srgbClr val="0F172A"/>
                </a:solidFill>
              </a:defRPr>
            </a:pPr>
            <a:r>
              <a:t>• Exploration Tax: LinUCB trailed Rule-based during initial 1,500 rounds while testing arms.</a:t>
            </a:r>
          </a:p>
          <a:p>
            <a:pPr>
              <a:spcBef>
                <a:spcPts val="1000"/>
              </a:spcBef>
              <a:defRPr sz="1300">
                <a:solidFill>
                  <a:srgbClr val="0F172A"/>
                </a:solidFill>
              </a:defRPr>
            </a:pPr>
            <a:r>
              <a:t>• Break-Even Crossover: Crossed break-even at Round 3,200 on Seed 42, finishing +Rs 492 ahead.</a:t>
            </a:r>
          </a:p>
          <a:p>
            <a:pPr>
              <a:spcBef>
                <a:spcPts val="1000"/>
              </a:spcBef>
              <a:defRPr sz="1300">
                <a:solidFill>
                  <a:srgbClr val="0F172A"/>
                </a:solidFill>
              </a:defRPr>
            </a:pPr>
            <a:r>
              <a:t>• Cash Trade-Off: LinUCB conceded Rs 24,642 in discounts vs. Rs 20,955 for Fixed 10%.</a:t>
            </a:r>
          </a:p>
          <a:p>
            <a:pPr>
              <a:spcBef>
                <a:spcPts val="1000"/>
              </a:spcBef>
              <a:defRPr sz="1300">
                <a:solidFill>
                  <a:srgbClr val="0F172A"/>
                </a:solidFill>
              </a:defRPr>
            </a:pPr>
            <a:r>
              <a:t>• Ledger Value: Proves financial cash flows divergence that regret curves hide.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TIER BREAKDOWN</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Loyalty Tier Breakdown &amp; Guardrail Audit</a:t>
            </a:r>
          </a:p>
        </p:txBody>
      </p:sp>
      <p:graphicFrame>
        <p:nvGraphicFramePr>
          <p:cNvPr id="4" name="Table 3"/>
          <p:cNvGraphicFramePr>
            <a:graphicFrameLocks noGrp="1"/>
          </p:cNvGraphicFramePr>
          <p:nvPr/>
        </p:nvGraphicFramePr>
        <p:xfrm>
          <a:off x="731520" y="1645920"/>
          <a:ext cx="10698480" cy="2926080"/>
        </p:xfrm>
        <a:graphic>
          <a:graphicData uri="http://schemas.openxmlformats.org/drawingml/2006/table">
            <a:tbl>
              <a:tblPr firstRow="1" bandRow="1">
                <a:tableStyleId>{5C22544A-7EE6-4342-B048-85BDC9FD1C3A}</a:tableStyleId>
              </a:tblPr>
              <a:tblGrid>
                <a:gridCol w="1783080"/>
                <a:gridCol w="1783080"/>
                <a:gridCol w="1783080"/>
                <a:gridCol w="1783080"/>
                <a:gridCol w="1783080"/>
                <a:gridCol w="1783080"/>
              </a:tblGrid>
              <a:tr h="731520">
                <a:tc>
                  <a:txBody>
                    <a:bodyPr/>
                    <a:lstStyle/>
                    <a:p>
                      <a:pPr algn="ctr">
                        <a:defRPr sz="1300" b="1">
                          <a:solidFill>
                            <a:srgbClr val="FFFFFF"/>
                          </a:solidFill>
                        </a:defRPr>
                      </a:pPr>
                      <a:r>
                        <a:t>Loyalty Tier</a:t>
                      </a:r>
                    </a:p>
                  </a:txBody>
                  <a:tcPr>
                    <a:solidFill>
                      <a:srgbClr val="0F172A"/>
                    </a:solidFill>
                  </a:tcPr>
                </a:tc>
                <a:tc>
                  <a:txBody>
                    <a:bodyPr/>
                    <a:lstStyle/>
                    <a:p>
                      <a:pPr algn="ctr">
                        <a:defRPr sz="1300" b="1">
                          <a:solidFill>
                            <a:srgbClr val="FFFFFF"/>
                          </a:solidFill>
                        </a:defRPr>
                      </a:pPr>
                      <a:r>
                        <a:t>Share</a:t>
                      </a:r>
                    </a:p>
                  </a:txBody>
                  <a:tcPr>
                    <a:solidFill>
                      <a:srgbClr val="0F172A"/>
                    </a:solidFill>
                  </a:tcPr>
                </a:tc>
                <a:tc>
                  <a:txBody>
                    <a:bodyPr/>
                    <a:lstStyle/>
                    <a:p>
                      <a:pPr algn="ctr">
                        <a:defRPr sz="1300" b="1">
                          <a:solidFill>
                            <a:srgbClr val="FFFFFF"/>
                          </a:solidFill>
                        </a:defRPr>
                      </a:pPr>
                      <a:r>
                        <a:t>Guardrail Cap</a:t>
                      </a:r>
                    </a:p>
                  </a:txBody>
                  <a:tcPr>
                    <a:solidFill>
                      <a:srgbClr val="0F172A"/>
                    </a:solidFill>
                  </a:tcPr>
                </a:tc>
                <a:tc>
                  <a:txBody>
                    <a:bodyPr/>
                    <a:lstStyle/>
                    <a:p>
                      <a:pPr algn="ctr">
                        <a:defRPr sz="1300" b="1">
                          <a:solidFill>
                            <a:srgbClr val="FFFFFF"/>
                          </a:solidFill>
                        </a:defRPr>
                      </a:pPr>
                      <a:r>
                        <a:t>LinUCB Avg Disc</a:t>
                      </a:r>
                    </a:p>
                  </a:txBody>
                  <a:tcPr>
                    <a:solidFill>
                      <a:srgbClr val="0F172A"/>
                    </a:solidFill>
                  </a:tcPr>
                </a:tc>
                <a:tc>
                  <a:txBody>
                    <a:bodyPr/>
                    <a:lstStyle/>
                    <a:p>
                      <a:pPr algn="ctr">
                        <a:defRPr sz="1300" b="1">
                          <a:solidFill>
                            <a:srgbClr val="FFFFFF"/>
                          </a:solidFill>
                        </a:defRPr>
                      </a:pPr>
                      <a:r>
                        <a:t>LinUCB Profit</a:t>
                      </a:r>
                    </a:p>
                  </a:txBody>
                  <a:tcPr>
                    <a:solidFill>
                      <a:srgbClr val="0F172A"/>
                    </a:solidFill>
                  </a:tcPr>
                </a:tc>
                <a:tc>
                  <a:txBody>
                    <a:bodyPr/>
                    <a:lstStyle/>
                    <a:p>
                      <a:pPr algn="ctr">
                        <a:defRPr sz="1300" b="1">
                          <a:solidFill>
                            <a:srgbClr val="FFFFFF"/>
                          </a:solidFill>
                        </a:defRPr>
                      </a:pPr>
                      <a:r>
                        <a:t>Fixed 10% Profit</a:t>
                      </a:r>
                    </a:p>
                  </a:txBody>
                  <a:tcPr>
                    <a:solidFill>
                      <a:srgbClr val="0F172A"/>
                    </a:solidFill>
                  </a:tcPr>
                </a:tc>
              </a:tr>
              <a:tr h="731520">
                <a:tc>
                  <a:txBody>
                    <a:bodyPr/>
                    <a:lstStyle/>
                    <a:p>
                      <a:pPr algn="ctr">
                        <a:defRPr sz="1300">
                          <a:solidFill>
                            <a:srgbClr val="0F172A"/>
                          </a:solidFill>
                        </a:defRPr>
                      </a:pPr>
                      <a:r>
                        <a:t>New</a:t>
                      </a:r>
                    </a:p>
                  </a:txBody>
                  <a:tcPr>
                    <a:solidFill>
                      <a:srgbClr val="F8FAFC"/>
                    </a:solidFill>
                  </a:tcPr>
                </a:tc>
                <a:tc>
                  <a:txBody>
                    <a:bodyPr/>
                    <a:lstStyle/>
                    <a:p>
                      <a:pPr algn="ctr">
                        <a:defRPr sz="1300">
                          <a:solidFill>
                            <a:srgbClr val="0F172A"/>
                          </a:solidFill>
                        </a:defRPr>
                      </a:pPr>
                      <a:r>
                        <a:t>25%</a:t>
                      </a:r>
                    </a:p>
                  </a:txBody>
                  <a:tcPr>
                    <a:solidFill>
                      <a:srgbClr val="F8FAFC"/>
                    </a:solidFill>
                  </a:tcPr>
                </a:tc>
                <a:tc>
                  <a:txBody>
                    <a:bodyPr/>
                    <a:lstStyle/>
                    <a:p>
                      <a:pPr algn="ctr">
                        <a:defRPr sz="1300">
                          <a:solidFill>
                            <a:srgbClr val="0F172A"/>
                          </a:solidFill>
                        </a:defRPr>
                      </a:pPr>
                      <a:r>
                        <a:t>Max 5%</a:t>
                      </a:r>
                    </a:p>
                  </a:txBody>
                  <a:tcPr>
                    <a:solidFill>
                      <a:srgbClr val="F8FAFC"/>
                    </a:solidFill>
                  </a:tcPr>
                </a:tc>
                <a:tc>
                  <a:txBody>
                    <a:bodyPr/>
                    <a:lstStyle/>
                    <a:p>
                      <a:pPr algn="ctr">
                        <a:defRPr sz="1300">
                          <a:solidFill>
                            <a:srgbClr val="0F172A"/>
                          </a:solidFill>
                        </a:defRPr>
                      </a:pPr>
                      <a:r>
                        <a:t>3.11%</a:t>
                      </a:r>
                    </a:p>
                  </a:txBody>
                  <a:tcPr>
                    <a:solidFill>
                      <a:srgbClr val="F8FAFC"/>
                    </a:solidFill>
                  </a:tcPr>
                </a:tc>
                <a:tc>
                  <a:txBody>
                    <a:bodyPr/>
                    <a:lstStyle/>
                    <a:p>
                      <a:pPr algn="ctr">
                        <a:defRPr sz="1300">
                          <a:solidFill>
                            <a:srgbClr val="0F172A"/>
                          </a:solidFill>
                        </a:defRPr>
                      </a:pPr>
                      <a:r>
                        <a:t>Rs 19,410.22</a:t>
                      </a:r>
                    </a:p>
                  </a:txBody>
                  <a:tcPr>
                    <a:solidFill>
                      <a:srgbClr val="F8FAFC"/>
                    </a:solidFill>
                  </a:tcPr>
                </a:tc>
                <a:tc>
                  <a:txBody>
                    <a:bodyPr/>
                    <a:lstStyle/>
                    <a:p>
                      <a:pPr algn="ctr">
                        <a:defRPr sz="1300">
                          <a:solidFill>
                            <a:srgbClr val="0F172A"/>
                          </a:solidFill>
                        </a:defRPr>
                      </a:pPr>
                      <a:r>
                        <a:t>Rs 19,652.18</a:t>
                      </a:r>
                    </a:p>
                  </a:txBody>
                  <a:tcPr>
                    <a:solidFill>
                      <a:srgbClr val="F8FAFC"/>
                    </a:solidFill>
                  </a:tcPr>
                </a:tc>
              </a:tr>
              <a:tr h="731520">
                <a:tc>
                  <a:txBody>
                    <a:bodyPr/>
                    <a:lstStyle/>
                    <a:p>
                      <a:pPr algn="ctr">
                        <a:defRPr sz="1300">
                          <a:solidFill>
                            <a:srgbClr val="0F172A"/>
                          </a:solidFill>
                        </a:defRPr>
                      </a:pPr>
                      <a:r>
                        <a:t>Regular</a:t>
                      </a:r>
                    </a:p>
                  </a:txBody>
                  <a:tcPr>
                    <a:solidFill>
                      <a:srgbClr val="F8FAFC"/>
                    </a:solidFill>
                  </a:tcPr>
                </a:tc>
                <a:tc>
                  <a:txBody>
                    <a:bodyPr/>
                    <a:lstStyle/>
                    <a:p>
                      <a:pPr algn="ctr">
                        <a:defRPr sz="1300">
                          <a:solidFill>
                            <a:srgbClr val="0F172A"/>
                          </a:solidFill>
                        </a:defRPr>
                      </a:pPr>
                      <a:r>
                        <a:t>50%</a:t>
                      </a:r>
                    </a:p>
                  </a:txBody>
                  <a:tcPr>
                    <a:solidFill>
                      <a:srgbClr val="F8FAFC"/>
                    </a:solidFill>
                  </a:tcPr>
                </a:tc>
                <a:tc>
                  <a:txBody>
                    <a:bodyPr/>
                    <a:lstStyle/>
                    <a:p>
                      <a:pPr algn="ctr">
                        <a:defRPr sz="1300">
                          <a:solidFill>
                            <a:srgbClr val="0F172A"/>
                          </a:solidFill>
                        </a:defRPr>
                      </a:pPr>
                      <a:r>
                        <a:t>Max 15%</a:t>
                      </a:r>
                    </a:p>
                  </a:txBody>
                  <a:tcPr>
                    <a:solidFill>
                      <a:srgbClr val="F8FAFC"/>
                    </a:solidFill>
                  </a:tcPr>
                </a:tc>
                <a:tc>
                  <a:txBody>
                    <a:bodyPr/>
                    <a:lstStyle/>
                    <a:p>
                      <a:pPr algn="ctr">
                        <a:defRPr sz="1300">
                          <a:solidFill>
                            <a:srgbClr val="0F172A"/>
                          </a:solidFill>
                        </a:defRPr>
                      </a:pPr>
                      <a:r>
                        <a:t>9.84%</a:t>
                      </a:r>
                    </a:p>
                  </a:txBody>
                  <a:tcPr>
                    <a:solidFill>
                      <a:srgbClr val="F8FAFC"/>
                    </a:solidFill>
                  </a:tcPr>
                </a:tc>
                <a:tc>
                  <a:txBody>
                    <a:bodyPr/>
                    <a:lstStyle/>
                    <a:p>
                      <a:pPr algn="ctr">
                        <a:defRPr sz="1300">
                          <a:solidFill>
                            <a:srgbClr val="0F172A"/>
                          </a:solidFill>
                        </a:defRPr>
                      </a:pPr>
                      <a:r>
                        <a:t>Rs 39,411.50</a:t>
                      </a:r>
                    </a:p>
                  </a:txBody>
                  <a:tcPr>
                    <a:solidFill>
                      <a:srgbClr val="F8FAFC"/>
                    </a:solidFill>
                  </a:tcPr>
                </a:tc>
                <a:tc>
                  <a:txBody>
                    <a:bodyPr/>
                    <a:lstStyle/>
                    <a:p>
                      <a:pPr algn="ctr">
                        <a:defRPr sz="1300">
                          <a:solidFill>
                            <a:srgbClr val="0F172A"/>
                          </a:solidFill>
                        </a:defRPr>
                      </a:pPr>
                      <a:r>
                        <a:t>Rs 40,188.42</a:t>
                      </a:r>
                    </a:p>
                  </a:txBody>
                  <a:tcPr>
                    <a:solidFill>
                      <a:srgbClr val="F8FAFC"/>
                    </a:solidFill>
                  </a:tcPr>
                </a:tc>
              </a:tr>
              <a:tr h="731520">
                <a:tc>
                  <a:txBody>
                    <a:bodyPr/>
                    <a:lstStyle/>
                    <a:p>
                      <a:pPr algn="ctr">
                        <a:defRPr sz="1300">
                          <a:solidFill>
                            <a:srgbClr val="0F172A"/>
                          </a:solidFill>
                        </a:defRPr>
                      </a:pPr>
                      <a:r>
                        <a:t>Loyal</a:t>
                      </a:r>
                    </a:p>
                  </a:txBody>
                  <a:tcPr>
                    <a:solidFill>
                      <a:srgbClr val="F8FAFC"/>
                    </a:solidFill>
                  </a:tcPr>
                </a:tc>
                <a:tc>
                  <a:txBody>
                    <a:bodyPr/>
                    <a:lstStyle/>
                    <a:p>
                      <a:pPr algn="ctr">
                        <a:defRPr sz="1300">
                          <a:solidFill>
                            <a:srgbClr val="0F172A"/>
                          </a:solidFill>
                        </a:defRPr>
                      </a:pPr>
                      <a:r>
                        <a:t>25%</a:t>
                      </a:r>
                    </a:p>
                  </a:txBody>
                  <a:tcPr>
                    <a:solidFill>
                      <a:srgbClr val="F8FAFC"/>
                    </a:solidFill>
                  </a:tcPr>
                </a:tc>
                <a:tc>
                  <a:txBody>
                    <a:bodyPr/>
                    <a:lstStyle/>
                    <a:p>
                      <a:pPr algn="ctr">
                        <a:defRPr sz="1300">
                          <a:solidFill>
                            <a:srgbClr val="0F172A"/>
                          </a:solidFill>
                        </a:defRPr>
                      </a:pPr>
                      <a:r>
                        <a:t>Max 20%</a:t>
                      </a:r>
                    </a:p>
                  </a:txBody>
                  <a:tcPr>
                    <a:solidFill>
                      <a:srgbClr val="F8FAFC"/>
                    </a:solidFill>
                  </a:tcPr>
                </a:tc>
                <a:tc>
                  <a:txBody>
                    <a:bodyPr/>
                    <a:lstStyle/>
                    <a:p>
                      <a:pPr algn="ctr">
                        <a:defRPr sz="1300">
                          <a:solidFill>
                            <a:srgbClr val="0F172A"/>
                          </a:solidFill>
                        </a:defRPr>
                      </a:pPr>
                      <a:r>
                        <a:t>11.02%</a:t>
                      </a:r>
                    </a:p>
                  </a:txBody>
                  <a:tcPr>
                    <a:solidFill>
                      <a:srgbClr val="F8FAFC"/>
                    </a:solidFill>
                  </a:tcPr>
                </a:tc>
                <a:tc>
                  <a:txBody>
                    <a:bodyPr/>
                    <a:lstStyle/>
                    <a:p>
                      <a:pPr algn="ctr">
                        <a:defRPr sz="1300">
                          <a:solidFill>
                            <a:srgbClr val="0F172A"/>
                          </a:solidFill>
                        </a:defRPr>
                      </a:pPr>
                      <a:r>
                        <a:t>Rs 20,103.10</a:t>
                      </a:r>
                    </a:p>
                  </a:txBody>
                  <a:tcPr>
                    <a:solidFill>
                      <a:srgbClr val="F8FAFC"/>
                    </a:solidFill>
                  </a:tcPr>
                </a:tc>
                <a:tc>
                  <a:txBody>
                    <a:bodyPr/>
                    <a:lstStyle/>
                    <a:p>
                      <a:pPr algn="ctr">
                        <a:defRPr sz="1300">
                          <a:solidFill>
                            <a:srgbClr val="0F172A"/>
                          </a:solidFill>
                        </a:defRPr>
                      </a:pPr>
                      <a:r>
                        <a:t>Rs 20,424.81</a:t>
                      </a:r>
                    </a:p>
                  </a:txBody>
                  <a:tcPr>
                    <a:solidFill>
                      <a:srgbClr val="F8FAFC"/>
                    </a:solidFill>
                  </a:tcPr>
                </a:tc>
              </a:tr>
            </a:tbl>
          </a:graphicData>
        </a:graphic>
      </p:graphicFrame>
      <p:sp>
        <p:nvSpPr>
          <p:cNvPr id="5" name="Rounded Rectangle 4"/>
          <p:cNvSpPr/>
          <p:nvPr/>
        </p:nvSpPr>
        <p:spPr>
          <a:xfrm>
            <a:off x="731520" y="4846320"/>
            <a:ext cx="10698480" cy="137160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100% GUARDRAIL COMPLIANCE AUDIT</a:t>
            </a:r>
          </a:p>
          <a:p>
            <a:pPr>
              <a:spcBef>
                <a:spcPts val="400"/>
              </a:spcBef>
              <a:defRPr sz="1300">
                <a:solidFill>
                  <a:srgbClr val="0F172A"/>
                </a:solidFill>
              </a:defRPr>
            </a:pPr>
            <a:r>
              <a:t>• Exactly 0 margin floor breaches and 0 tier cap violations across 200,000 decisions (100% compliance).</a:t>
            </a:r>
            <a:br/>
            <a:r>
              <a:t>• In contrast, 39.04% of historical Kaggle records violated tier rules, highlighting past lack of discipline.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OFF-POLICY REPLAY</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Off-Policy Replay on 73,100 Historical Records</a:t>
            </a:r>
          </a:p>
        </p:txBody>
      </p:sp>
      <p:pic>
        <p:nvPicPr>
          <p:cNvPr id="4" name="Picture 3" descr="replay_comparison_slide.png"/>
          <p:cNvPicPr>
            <a:picLocks noChangeAspect="1"/>
          </p:cNvPicPr>
          <p:nvPr/>
        </p:nvPicPr>
        <p:blipFill>
          <a:blip r:embed="rId3"/>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CRITICAL REPLAY CAVEATS</a:t>
            </a:r>
          </a:p>
          <a:p>
            <a:pPr>
              <a:spcBef>
                <a:spcPts val="1000"/>
              </a:spcBef>
              <a:defRPr sz="1300">
                <a:solidFill>
                  <a:srgbClr val="0F172A"/>
                </a:solidFill>
              </a:defRPr>
            </a:pPr>
            <a:r>
              <a:t>• Replay Profit: LinUCB Rs 6.11/round vs. Fixed 10% Rs 5.87/round.</a:t>
            </a:r>
          </a:p>
          <a:p>
            <a:pPr>
              <a:spcBef>
                <a:spcPts val="1000"/>
              </a:spcBef>
              <a:defRPr sz="1300">
                <a:solidFill>
                  <a:srgbClr val="0F172A"/>
                </a:solidFill>
              </a:defRPr>
            </a:pPr>
            <a:r>
              <a:t>• Overlapping CIs: 95% confidence intervals overlap across all policies—no statistical superiority.</a:t>
            </a:r>
          </a:p>
          <a:p>
            <a:pPr>
              <a:spcBef>
                <a:spcPts val="1000"/>
              </a:spcBef>
              <a:defRPr sz="1300">
                <a:solidFill>
                  <a:srgbClr val="0F172A"/>
                </a:solidFill>
              </a:defRPr>
            </a:pPr>
            <a:r>
              <a:t>• Non-Random Logging: Historical discounts were set deliberately by managers, violating independence.</a:t>
            </a:r>
          </a:p>
          <a:p>
            <a:pPr>
              <a:spcBef>
                <a:spcPts val="1000"/>
              </a:spcBef>
              <a:defRPr sz="1300">
                <a:solidFill>
                  <a:srgbClr val="0F172A"/>
                </a:solidFill>
              </a:defRPr>
            </a:pPr>
            <a:r>
              <a:t>• Conclusion: Replay confirms coherence within historical bounds; it does NOT prove real-world lift.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APPLICATION</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Frontline Decision Support: The Streamlit Web App</a:t>
            </a:r>
          </a:p>
        </p:txBody>
      </p:sp>
      <p:sp>
        <p:nvSpPr>
          <p:cNvPr id="4" name="Rounded Rectangle 3"/>
          <p:cNvSpPr/>
          <p:nvPr/>
        </p:nvSpPr>
        <p:spPr>
          <a:xfrm>
            <a:off x="731520" y="1645920"/>
            <a:ext cx="3291840" cy="43891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563EB"/>
                </a:solidFill>
              </a:defRPr>
            </a:pPr>
            <a:r>
              <a:t>Live Recommendation</a:t>
            </a:r>
          </a:p>
          <a:p>
            <a:pPr>
              <a:spcBef>
                <a:spcPts val="400"/>
              </a:spcBef>
              <a:defRPr sz="1300" b="1">
                <a:solidFill>
                  <a:srgbClr val="475569"/>
                </a:solidFill>
              </a:defRPr>
            </a:pPr>
            <a:r>
              <a:t>Explainable Inference</a:t>
            </a:r>
          </a:p>
          <a:p>
            <a:pPr>
              <a:spcBef>
                <a:spcPts val="1600"/>
              </a:spcBef>
              <a:defRPr sz="1400">
                <a:solidFill>
                  <a:srgbClr val="0F172A"/>
                </a:solidFill>
              </a:defRPr>
            </a:pPr>
            <a:r>
              <a:t>Displays optimal discount, expected profit, and UCB uncertainty bonus. Explains why disqualified arms were blocked.</a:t>
            </a:r>
          </a:p>
        </p:txBody>
      </p:sp>
      <p:sp>
        <p:nvSpPr>
          <p:cNvPr id="5" name="Rounded Rectangle 4"/>
          <p:cNvSpPr/>
          <p:nvPr/>
        </p:nvSpPr>
        <p:spPr>
          <a:xfrm>
            <a:off x="4297680" y="1645920"/>
            <a:ext cx="3291840" cy="438912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What-If Simulator</a:t>
            </a:r>
          </a:p>
          <a:p>
            <a:pPr>
              <a:spcBef>
                <a:spcPts val="400"/>
              </a:spcBef>
              <a:defRPr sz="1300" b="1">
                <a:solidFill>
                  <a:srgbClr val="475569"/>
                </a:solidFill>
              </a:defRPr>
            </a:pPr>
            <a:r>
              <a:t>Margin Sensitivity Curve</a:t>
            </a:r>
          </a:p>
          <a:p>
            <a:pPr>
              <a:spcBef>
                <a:spcPts val="1600"/>
              </a:spcBef>
              <a:defRPr sz="1400">
                <a:solidFill>
                  <a:srgbClr val="0F172A"/>
                </a:solidFill>
              </a:defRPr>
            </a:pPr>
            <a:r>
              <a:t>Interactive slider projecting conversion and profit. Surfaces profit-maximizing apex with margin floor warnings.</a:t>
            </a:r>
          </a:p>
        </p:txBody>
      </p:sp>
      <p:sp>
        <p:nvSpPr>
          <p:cNvPr id="6" name="Rounded Rectangle 5"/>
          <p:cNvSpPr/>
          <p:nvPr/>
        </p:nvSpPr>
        <p:spPr>
          <a:xfrm>
            <a:off x="7863840" y="1645920"/>
            <a:ext cx="3291840" cy="4389120"/>
          </a:xfrm>
          <a:prstGeom prst="roundRect">
            <a:avLst/>
          </a:prstGeom>
          <a:solidFill>
            <a:srgbClr val="F8FAFC"/>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172A"/>
                </a:solidFill>
              </a:defRPr>
            </a:pPr>
            <a:r>
              <a:t>Guardrail Audit &amp; Dashboard</a:t>
            </a:r>
          </a:p>
          <a:p>
            <a:pPr>
              <a:spcBef>
                <a:spcPts val="400"/>
              </a:spcBef>
              <a:defRPr sz="1300" b="1">
                <a:solidFill>
                  <a:srgbClr val="475569"/>
                </a:solidFill>
              </a:defRPr>
            </a:pPr>
            <a:r>
              <a:t>100% Offline Architecture</a:t>
            </a:r>
          </a:p>
          <a:p>
            <a:pPr>
              <a:spcBef>
                <a:spcPts val="1600"/>
              </a:spcBef>
              <a:defRPr sz="1400">
                <a:solidFill>
                  <a:srgbClr val="0F172A"/>
                </a:solidFill>
              </a:defRPr>
            </a:pPr>
            <a:r>
              <a:t>Full rule inspector and multi-seed performance charts. Zero network calls, runs locally in sub-millisecond latency.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CONCLUSIONS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Summary Conclusions &amp; Commercial Takeaways</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172A"/>
                </a:solidFill>
              </a:defRPr>
            </a:pPr>
            <a:r>
              <a:t>KEY TAKEAWAYS FOR RETAIL MERCHANDISERS</a:t>
            </a:r>
          </a:p>
          <a:p>
            <a:pPr>
              <a:spcBef>
                <a:spcPts val="1400"/>
              </a:spcBef>
              <a:defRPr sz="1500">
                <a:solidFill>
                  <a:srgbClr val="0F172A"/>
                </a:solidFill>
              </a:defRPr>
            </a:pPr>
            <a:r>
              <a:t>1. Bandits Drive Top-Line Revenue: LinUCB captured Rs 234.3k revenue and 24.29% conversion, beating standard retail rules in 80% of seeds.</a:t>
            </a:r>
          </a:p>
          <a:p>
            <a:pPr>
              <a:spcBef>
                <a:spcPts val="1400"/>
              </a:spcBef>
              <a:defRPr sz="1500">
                <a:solidFill>
                  <a:srgbClr val="0F172A"/>
                </a:solidFill>
              </a:defRPr>
            </a:pPr>
            <a:r>
              <a:t>2. Heuristics Can Win on Profit: Fixed 10% earned highest profit (Rs 80.3k) by avoiding excessive margin loss on 15% and 20% markdowns.</a:t>
            </a:r>
          </a:p>
          <a:p>
            <a:pPr>
              <a:spcBef>
                <a:spcPts val="1400"/>
              </a:spcBef>
              <a:defRPr sz="1500">
                <a:solidFill>
                  <a:srgbClr val="0F172A"/>
                </a:solidFill>
              </a:defRPr>
            </a:pPr>
            <a:r>
              <a:t>3. Hard Guardrails are Essential: Programmatic constraints delivered 100% safety, preventing algorithmic margin destruction.</a:t>
            </a:r>
          </a:p>
          <a:p>
            <a:pPr>
              <a:spcBef>
                <a:spcPts val="1400"/>
              </a:spcBef>
              <a:defRPr sz="1500">
                <a:solidFill>
                  <a:srgbClr val="0F172A"/>
                </a:solidFill>
              </a:defRPr>
            </a:pPr>
            <a:r>
              <a:t>4. Pair Regret with Financial Ledgers: Theoretical regret proves convergence; double-entry ledgers reveal actual commercial cash flows.</a:t>
            </a:r>
          </a:p>
          <a:p>
            <a:pPr>
              <a:spcBef>
                <a:spcPts val="1400"/>
              </a:spcBef>
              <a:defRPr sz="1500">
                <a:solidFill>
                  <a:srgbClr val="0F172A"/>
                </a:solidFill>
              </a:defRPr>
            </a:pPr>
            <a:r>
              <a:t>5. Honest Caveats: All results derived within calibrated simulator; physical stores require store-wide discount budgets and competitor reaction modeling.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BACKUP SLIDES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Backup: LinUCB Exploration Sensitivity (alpha)</a:t>
            </a:r>
          </a:p>
        </p:txBody>
      </p:sp>
      <p:pic>
        <p:nvPicPr>
          <p:cNvPr id="4" name="Picture 3" descr="alpha_regret_slide.png"/>
          <p:cNvPicPr>
            <a:picLocks noChangeAspect="1"/>
          </p:cNvPicPr>
          <p:nvPr/>
        </p:nvPicPr>
        <p:blipFill>
          <a:blip r:embed="rId2"/>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563EB"/>
                </a:solidFill>
              </a:defRPr>
            </a:pPr>
            <a:r>
              <a:t>ALPHA SWEEP INSIGHTS</a:t>
            </a:r>
          </a:p>
          <a:p>
            <a:pPr>
              <a:spcBef>
                <a:spcPts val="1000"/>
              </a:spcBef>
              <a:defRPr sz="1300">
                <a:solidFill>
                  <a:srgbClr val="0F172A"/>
                </a:solidFill>
              </a:defRPr>
            </a:pPr>
            <a:r>
              <a:t>• Grid: alpha in {0.0, 0.1, 0.5, 1.0, 2.0, 5.0}.</a:t>
            </a:r>
          </a:p>
          <a:p>
            <a:pPr>
              <a:spcBef>
                <a:spcPts val="1000"/>
              </a:spcBef>
              <a:defRPr sz="1300">
                <a:solidFill>
                  <a:srgbClr val="0F172A"/>
                </a:solidFill>
              </a:defRPr>
            </a:pPr>
            <a:r>
              <a:t>• Separate Tuning Seeds: Swept on Seeds 101–105 to avoid headline seed contamination.</a:t>
            </a:r>
          </a:p>
          <a:p>
            <a:pPr>
              <a:spcBef>
                <a:spcPts val="1000"/>
              </a:spcBef>
              <a:defRPr sz="1300">
                <a:solidFill>
                  <a:srgbClr val="0F172A"/>
                </a:solidFill>
              </a:defRPr>
            </a:pPr>
            <a:r>
              <a:t>• Optimal Region: alpha in [0.1, 1.0] is highly stable; alpha=0.5 chosen.</a:t>
            </a:r>
          </a:p>
          <a:p>
            <a:pPr>
              <a:spcBef>
                <a:spcPts val="1000"/>
              </a:spcBef>
              <a:defRPr sz="1300">
                <a:solidFill>
                  <a:srgbClr val="0F172A"/>
                </a:solidFill>
              </a:defRPr>
            </a:pPr>
            <a:r>
              <a:t>• Over-Exploration: alpha &gt;= 2.0 inflates regret to Rs 1,463.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BACKUP SLIDES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Backup: Reward Penalty Ablation (lambda)</a:t>
            </a:r>
          </a:p>
        </p:txBody>
      </p:sp>
      <p:pic>
        <p:nvPicPr>
          <p:cNvPr id="4" name="Picture 3" descr="ablation_tradeoff_slide.png"/>
          <p:cNvPicPr>
            <a:picLocks noChangeAspect="1"/>
          </p:cNvPicPr>
          <p:nvPr/>
        </p:nvPicPr>
        <p:blipFill>
          <a:blip r:embed="rId2"/>
          <a:stretch>
            <a:fillRect/>
          </a:stretch>
        </p:blipFill>
        <p:spPr>
          <a:xfrm>
            <a:off x="731520" y="1645920"/>
            <a:ext cx="6583680" cy="3703320"/>
          </a:xfrm>
          <a:prstGeom prst="rect">
            <a:avLst/>
          </a:prstGeom>
        </p:spPr>
      </p:pic>
      <p:sp>
        <p:nvSpPr>
          <p:cNvPr id="5" name="Rounded Rectangle 4"/>
          <p:cNvSpPr/>
          <p:nvPr/>
        </p:nvSpPr>
        <p:spPr>
          <a:xfrm>
            <a:off x="7589520" y="1645920"/>
            <a:ext cx="3840480" cy="4572000"/>
          </a:xfrm>
          <a:prstGeom prst="roundRect">
            <a:avLst/>
          </a:prstGeom>
          <a:solidFill>
            <a:srgbClr val="F8FAFC"/>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PRICE OF RESTRAINT</a:t>
            </a:r>
          </a:p>
          <a:p>
            <a:pPr>
              <a:spcBef>
                <a:spcPts val="1000"/>
              </a:spcBef>
              <a:defRPr sz="1300">
                <a:solidFill>
                  <a:srgbClr val="0F172A"/>
                </a:solidFill>
              </a:defRPr>
            </a:pPr>
            <a:r>
              <a:t>• Formulation: R - lambda * (BasePrice * a).</a:t>
            </a:r>
          </a:p>
          <a:p>
            <a:pPr>
              <a:spcBef>
                <a:spcPts val="1000"/>
              </a:spcBef>
              <a:defRPr sz="1300">
                <a:solidFill>
                  <a:srgbClr val="0F172A"/>
                </a:solidFill>
              </a:defRPr>
            </a:pPr>
            <a:r>
              <a:t>• Policy Collapse: lambda = 0.73 collapses avg discount to 4.86% and revenue to Rs 214.5k.</a:t>
            </a:r>
          </a:p>
          <a:p>
            <a:pPr>
              <a:spcBef>
                <a:spcPts val="1000"/>
              </a:spcBef>
              <a:defRPr sz="1300">
                <a:solidFill>
                  <a:srgbClr val="0F172A"/>
                </a:solidFill>
              </a:defRPr>
            </a:pPr>
            <a:r>
              <a:t>• Key Finding: Soft reward penalties act as crude blunt throttles; hard guardrails are structurally superior.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BACKUP SLIDES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Backup: Complete Online &amp; Frozen Benchmark Tables</a:t>
            </a:r>
          </a:p>
        </p:txBody>
      </p:sp>
      <p:graphicFrame>
        <p:nvGraphicFramePr>
          <p:cNvPr id="4" name="Table 3"/>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731520">
                <a:tc>
                  <a:txBody>
                    <a:bodyPr/>
                    <a:lstStyle/>
                    <a:p>
                      <a:pPr algn="ctr">
                        <a:defRPr sz="1200" b="1">
                          <a:solidFill>
                            <a:srgbClr val="FFFFFF"/>
                          </a:solidFill>
                        </a:defRPr>
                      </a:pPr>
                      <a:r>
                        <a:t>Policy</a:t>
                      </a:r>
                    </a:p>
                  </a:txBody>
                  <a:tcPr>
                    <a:solidFill>
                      <a:srgbClr val="0F172A"/>
                    </a:solidFill>
                  </a:tcPr>
                </a:tc>
                <a:tc>
                  <a:txBody>
                    <a:bodyPr/>
                    <a:lstStyle/>
                    <a:p>
                      <a:pPr algn="ctr">
                        <a:defRPr sz="1200" b="1">
                          <a:solidFill>
                            <a:srgbClr val="FFFFFF"/>
                          </a:solidFill>
                        </a:defRPr>
                      </a:pPr>
                      <a:r>
                        <a:t>Online Profit (Rs)</a:t>
                      </a:r>
                    </a:p>
                  </a:txBody>
                  <a:tcPr>
                    <a:solidFill>
                      <a:srgbClr val="0F172A"/>
                    </a:solidFill>
                  </a:tcPr>
                </a:tc>
                <a:tc>
                  <a:txBody>
                    <a:bodyPr/>
                    <a:lstStyle/>
                    <a:p>
                      <a:pPr algn="ctr">
                        <a:defRPr sz="1200" b="1">
                          <a:solidFill>
                            <a:srgbClr val="FFFFFF"/>
                          </a:solidFill>
                        </a:defRPr>
                      </a:pPr>
                      <a:r>
                        <a:t>Online Revenue (Rs)</a:t>
                      </a:r>
                    </a:p>
                  </a:txBody>
                  <a:tcPr>
                    <a:solidFill>
                      <a:srgbClr val="0F172A"/>
                    </a:solidFill>
                  </a:tcPr>
                </a:tc>
                <a:tc>
                  <a:txBody>
                    <a:bodyPr/>
                    <a:lstStyle/>
                    <a:p>
                      <a:pPr algn="ctr">
                        <a:defRPr sz="1200" b="1">
                          <a:solidFill>
                            <a:srgbClr val="FFFFFF"/>
                          </a:solidFill>
                        </a:defRPr>
                      </a:pPr>
                      <a:r>
                        <a:t>Frozen Profit (Rs)</a:t>
                      </a:r>
                    </a:p>
                  </a:txBody>
                  <a:tcPr>
                    <a:solidFill>
                      <a:srgbClr val="0F172A"/>
                    </a:solidFill>
                  </a:tcPr>
                </a:tc>
                <a:tc>
                  <a:txBody>
                    <a:bodyPr/>
                    <a:lstStyle/>
                    <a:p>
                      <a:pPr algn="ctr">
                        <a:defRPr sz="1200" b="1">
                          <a:solidFill>
                            <a:srgbClr val="FFFFFF"/>
                          </a:solidFill>
                        </a:defRPr>
                      </a:pPr>
                      <a:r>
                        <a:t>Frozen Revenue (Rs)</a:t>
                      </a:r>
                    </a:p>
                  </a:txBody>
                  <a:tcPr>
                    <a:solidFill>
                      <a:srgbClr val="0F172A"/>
                    </a:solidFill>
                  </a:tcPr>
                </a:tc>
              </a:tr>
              <a:tr h="731520">
                <a:tc>
                  <a:txBody>
                    <a:bodyPr/>
                    <a:lstStyle/>
                    <a:p>
                      <a:pPr algn="ctr">
                        <a:defRPr sz="1200">
                          <a:solidFill>
                            <a:srgbClr val="0F172A"/>
                          </a:solidFill>
                        </a:defRPr>
                      </a:pPr>
                      <a:r>
                        <a:t>Fixed 10%</a:t>
                      </a:r>
                    </a:p>
                  </a:txBody>
                  <a:tcPr>
                    <a:solidFill>
                      <a:srgbClr val="F8FAFC"/>
                    </a:solidFill>
                  </a:tcPr>
                </a:tc>
                <a:tc>
                  <a:txBody>
                    <a:bodyPr/>
                    <a:lstStyle/>
                    <a:p>
                      <a:pPr algn="ctr">
                        <a:defRPr sz="1200">
                          <a:solidFill>
                            <a:srgbClr val="0F172A"/>
                          </a:solidFill>
                        </a:defRPr>
                      </a:pPr>
                      <a:r>
                        <a:t>Rs 80,265 +/- 1,788</a:t>
                      </a:r>
                    </a:p>
                  </a:txBody>
                  <a:tcPr>
                    <a:solidFill>
                      <a:srgbClr val="F8FAFC"/>
                    </a:solidFill>
                  </a:tcPr>
                </a:tc>
                <a:tc>
                  <a:txBody>
                    <a:bodyPr/>
                    <a:lstStyle/>
                    <a:p>
                      <a:pPr algn="ctr">
                        <a:defRPr sz="1200">
                          <a:solidFill>
                            <a:srgbClr val="0F172A"/>
                          </a:solidFill>
                        </a:defRPr>
                      </a:pPr>
                      <a:r>
                        <a:t>Rs 232,095 +/- 5,212</a:t>
                      </a:r>
                    </a:p>
                  </a:txBody>
                  <a:tcPr>
                    <a:solidFill>
                      <a:srgbClr val="F8FAFC"/>
                    </a:solidFill>
                  </a:tcPr>
                </a:tc>
                <a:tc>
                  <a:txBody>
                    <a:bodyPr/>
                    <a:lstStyle/>
                    <a:p>
                      <a:pPr algn="ctr">
                        <a:defRPr sz="1200">
                          <a:solidFill>
                            <a:srgbClr val="0F172A"/>
                          </a:solidFill>
                        </a:defRPr>
                      </a:pPr>
                      <a:r>
                        <a:t>Rs 20,137 +/- 645</a:t>
                      </a:r>
                    </a:p>
                  </a:txBody>
                  <a:tcPr>
                    <a:solidFill>
                      <a:srgbClr val="F8FAFC"/>
                    </a:solidFill>
                  </a:tcPr>
                </a:tc>
                <a:tc>
                  <a:txBody>
                    <a:bodyPr/>
                    <a:lstStyle/>
                    <a:p>
                      <a:pPr algn="ctr">
                        <a:defRPr sz="1200">
                          <a:solidFill>
                            <a:srgbClr val="0F172A"/>
                          </a:solidFill>
                        </a:defRPr>
                      </a:pPr>
                      <a:r>
                        <a:t>Rs 58,299 +/- 1,932</a:t>
                      </a:r>
                    </a:p>
                  </a:txBody>
                  <a:tcPr>
                    <a:solidFill>
                      <a:srgbClr val="F8FAFC"/>
                    </a:solidFill>
                  </a:tcPr>
                </a:tc>
              </a:tr>
              <a:tr h="731520">
                <a:tc>
                  <a:txBody>
                    <a:bodyPr/>
                    <a:lstStyle/>
                    <a:p>
                      <a:pPr algn="ctr">
                        <a:defRPr sz="1200">
                          <a:solidFill>
                            <a:srgbClr val="0F172A"/>
                          </a:solidFill>
                        </a:defRPr>
                      </a:pPr>
                      <a:r>
                        <a:t>LinUCB</a:t>
                      </a:r>
                    </a:p>
                  </a:txBody>
                  <a:tcPr>
                    <a:solidFill>
                      <a:srgbClr val="F8FAFC"/>
                    </a:solidFill>
                  </a:tcPr>
                </a:tc>
                <a:tc>
                  <a:txBody>
                    <a:bodyPr/>
                    <a:lstStyle/>
                    <a:p>
                      <a:pPr algn="ctr">
                        <a:defRPr sz="1200">
                          <a:solidFill>
                            <a:srgbClr val="0F172A"/>
                          </a:solidFill>
                        </a:defRPr>
                      </a:pPr>
                      <a:r>
                        <a:t>Rs 78,925 +/- 788</a:t>
                      </a:r>
                    </a:p>
                  </a:txBody>
                  <a:tcPr>
                    <a:solidFill>
                      <a:srgbClr val="F8FAFC"/>
                    </a:solidFill>
                  </a:tcPr>
                </a:tc>
                <a:tc>
                  <a:txBody>
                    <a:bodyPr/>
                    <a:lstStyle/>
                    <a:p>
                      <a:pPr algn="ctr">
                        <a:defRPr sz="1200">
                          <a:solidFill>
                            <a:srgbClr val="0F172A"/>
                          </a:solidFill>
                        </a:defRPr>
                      </a:pPr>
                      <a:r>
                        <a:t>Rs 234,277 +/- 4,477</a:t>
                      </a:r>
                    </a:p>
                  </a:txBody>
                  <a:tcPr>
                    <a:solidFill>
                      <a:srgbClr val="F8FAFC"/>
                    </a:solidFill>
                  </a:tcPr>
                </a:tc>
                <a:tc>
                  <a:txBody>
                    <a:bodyPr/>
                    <a:lstStyle/>
                    <a:p>
                      <a:pPr algn="ctr">
                        <a:defRPr sz="1200">
                          <a:solidFill>
                            <a:srgbClr val="0F172A"/>
                          </a:solidFill>
                        </a:defRPr>
                      </a:pPr>
                      <a:r>
                        <a:t>Rs 19,737 +/- 670</a:t>
                      </a:r>
                    </a:p>
                  </a:txBody>
                  <a:tcPr>
                    <a:solidFill>
                      <a:srgbClr val="F8FAFC"/>
                    </a:solidFill>
                  </a:tcPr>
                </a:tc>
                <a:tc>
                  <a:txBody>
                    <a:bodyPr/>
                    <a:lstStyle/>
                    <a:p>
                      <a:pPr algn="ctr">
                        <a:defRPr sz="1200">
                          <a:solidFill>
                            <a:srgbClr val="0F172A"/>
                          </a:solidFill>
                        </a:defRPr>
                      </a:pPr>
                      <a:r>
                        <a:t>Rs 58,465 +/- 2,464</a:t>
                      </a:r>
                    </a:p>
                  </a:txBody>
                  <a:tcPr>
                    <a:solidFill>
                      <a:srgbClr val="F8FAFC"/>
                    </a:solidFill>
                  </a:tcPr>
                </a:tc>
              </a:tr>
              <a:tr h="731520">
                <a:tc>
                  <a:txBody>
                    <a:bodyPr/>
                    <a:lstStyle/>
                    <a:p>
                      <a:pPr algn="ctr">
                        <a:defRPr sz="1200">
                          <a:solidFill>
                            <a:srgbClr val="0F172A"/>
                          </a:solidFill>
                        </a:defRPr>
                      </a:pPr>
                      <a:r>
                        <a:t>Thompson</a:t>
                      </a:r>
                    </a:p>
                  </a:txBody>
                  <a:tcPr>
                    <a:solidFill>
                      <a:srgbClr val="F8FAFC"/>
                    </a:solidFill>
                  </a:tcPr>
                </a:tc>
                <a:tc>
                  <a:txBody>
                    <a:bodyPr/>
                    <a:lstStyle/>
                    <a:p>
                      <a:pPr algn="ctr">
                        <a:defRPr sz="1200">
                          <a:solidFill>
                            <a:srgbClr val="0F172A"/>
                          </a:solidFill>
                        </a:defRPr>
                      </a:pPr>
                      <a:r>
                        <a:t>Rs 78,856 +/- 1,028</a:t>
                      </a:r>
                    </a:p>
                  </a:txBody>
                  <a:tcPr>
                    <a:solidFill>
                      <a:srgbClr val="F8FAFC"/>
                    </a:solidFill>
                  </a:tcPr>
                </a:tc>
                <a:tc>
                  <a:txBody>
                    <a:bodyPr/>
                    <a:lstStyle/>
                    <a:p>
                      <a:pPr algn="ctr">
                        <a:defRPr sz="1200">
                          <a:solidFill>
                            <a:srgbClr val="0F172A"/>
                          </a:solidFill>
                        </a:defRPr>
                      </a:pPr>
                      <a:r>
                        <a:t>Rs 232,651 +/- 5,585</a:t>
                      </a:r>
                    </a:p>
                  </a:txBody>
                  <a:tcPr>
                    <a:solidFill>
                      <a:srgbClr val="F8FAFC"/>
                    </a:solidFill>
                  </a:tcPr>
                </a:tc>
                <a:tc>
                  <a:txBody>
                    <a:bodyPr/>
                    <a:lstStyle/>
                    <a:p>
                      <a:pPr algn="ctr">
                        <a:defRPr sz="1200">
                          <a:solidFill>
                            <a:srgbClr val="0F172A"/>
                          </a:solidFill>
                        </a:defRPr>
                      </a:pPr>
                      <a:r>
                        <a:t>Rs 19,730 +/- 620</a:t>
                      </a:r>
                    </a:p>
                  </a:txBody>
                  <a:tcPr>
                    <a:solidFill>
                      <a:srgbClr val="F8FAFC"/>
                    </a:solidFill>
                  </a:tcPr>
                </a:tc>
                <a:tc>
                  <a:txBody>
                    <a:bodyPr/>
                    <a:lstStyle/>
                    <a:p>
                      <a:pPr algn="ctr">
                        <a:defRPr sz="1200">
                          <a:solidFill>
                            <a:srgbClr val="0F172A"/>
                          </a:solidFill>
                        </a:defRPr>
                      </a:pPr>
                      <a:r>
                        <a:t>Rs 58,159 +/- 2,116</a:t>
                      </a:r>
                    </a:p>
                  </a:txBody>
                  <a:tcPr>
                    <a:solidFill>
                      <a:srgbClr val="F8FAFC"/>
                    </a:solidFill>
                  </a:tcPr>
                </a:tc>
              </a:tr>
              <a:tr h="731520">
                <a:tc>
                  <a:txBody>
                    <a:bodyPr/>
                    <a:lstStyle/>
                    <a:p>
                      <a:pPr algn="ctr">
                        <a:defRPr sz="1200">
                          <a:solidFill>
                            <a:srgbClr val="0F172A"/>
                          </a:solidFill>
                        </a:defRPr>
                      </a:pPr>
                      <a:r>
                        <a:t>Rule-based</a:t>
                      </a:r>
                    </a:p>
                  </a:txBody>
                  <a:tcPr>
                    <a:solidFill>
                      <a:srgbClr val="F8FAFC"/>
                    </a:solidFill>
                  </a:tcPr>
                </a:tc>
                <a:tc>
                  <a:txBody>
                    <a:bodyPr/>
                    <a:lstStyle/>
                    <a:p>
                      <a:pPr algn="ctr">
                        <a:defRPr sz="1200">
                          <a:solidFill>
                            <a:srgbClr val="0F172A"/>
                          </a:solidFill>
                        </a:defRPr>
                      </a:pPr>
                      <a:r>
                        <a:t>Rs 78,432 +/- 1,177</a:t>
                      </a:r>
                    </a:p>
                  </a:txBody>
                  <a:tcPr>
                    <a:solidFill>
                      <a:srgbClr val="F8FAFC"/>
                    </a:solidFill>
                  </a:tcPr>
                </a:tc>
                <a:tc>
                  <a:txBody>
                    <a:bodyPr/>
                    <a:lstStyle/>
                    <a:p>
                      <a:pPr algn="ctr">
                        <a:defRPr sz="1200">
                          <a:solidFill>
                            <a:srgbClr val="0F172A"/>
                          </a:solidFill>
                        </a:defRPr>
                      </a:pPr>
                      <a:r>
                        <a:t>Rs 232,086 +/- 3,581</a:t>
                      </a:r>
                    </a:p>
                  </a:txBody>
                  <a:tcPr>
                    <a:solidFill>
                      <a:srgbClr val="F8FAFC"/>
                    </a:solidFill>
                  </a:tcPr>
                </a:tc>
                <a:tc>
                  <a:txBody>
                    <a:bodyPr/>
                    <a:lstStyle/>
                    <a:p>
                      <a:pPr algn="ctr">
                        <a:defRPr sz="1200">
                          <a:solidFill>
                            <a:srgbClr val="0F172A"/>
                          </a:solidFill>
                        </a:defRPr>
                      </a:pPr>
                      <a:r>
                        <a:t>Rs 19,667 +/- 884</a:t>
                      </a:r>
                    </a:p>
                  </a:txBody>
                  <a:tcPr>
                    <a:solidFill>
                      <a:srgbClr val="F8FAFC"/>
                    </a:solidFill>
                  </a:tcPr>
                </a:tc>
                <a:tc>
                  <a:txBody>
                    <a:bodyPr/>
                    <a:lstStyle/>
                    <a:p>
                      <a:pPr algn="ctr">
                        <a:defRPr sz="1200">
                          <a:solidFill>
                            <a:srgbClr val="0F172A"/>
                          </a:solidFill>
                        </a:defRPr>
                      </a:pPr>
                      <a:r>
                        <a:t>Rs 58,313 +/- 2,499</a:t>
                      </a:r>
                    </a:p>
                  </a:txBody>
                  <a:tcPr>
                    <a:solidFill>
                      <a:srgbClr val="F8FAFC"/>
                    </a:solidFill>
                  </a:tcPr>
                </a:tc>
              </a:tr>
              <a:tr h="731520">
                <a:tc>
                  <a:txBody>
                    <a:bodyPr/>
                    <a:lstStyle/>
                    <a:p>
                      <a:pPr algn="ctr">
                        <a:defRPr sz="1200">
                          <a:solidFill>
                            <a:srgbClr val="0F172A"/>
                          </a:solidFill>
                        </a:defRPr>
                      </a:pPr>
                      <a:r>
                        <a:t>Random</a:t>
                      </a:r>
                    </a:p>
                  </a:txBody>
                  <a:tcPr>
                    <a:solidFill>
                      <a:srgbClr val="F8FAFC"/>
                    </a:solidFill>
                  </a:tcPr>
                </a:tc>
                <a:tc>
                  <a:txBody>
                    <a:bodyPr/>
                    <a:lstStyle/>
                    <a:p>
                      <a:pPr algn="ctr">
                        <a:defRPr sz="1200">
                          <a:solidFill>
                            <a:srgbClr val="0F172A"/>
                          </a:solidFill>
                        </a:defRPr>
                      </a:pPr>
                      <a:r>
                        <a:t>Rs 78,371 +/- 986</a:t>
                      </a:r>
                    </a:p>
                  </a:txBody>
                  <a:tcPr>
                    <a:solidFill>
                      <a:srgbClr val="F8FAFC"/>
                    </a:solidFill>
                  </a:tcPr>
                </a:tc>
                <a:tc>
                  <a:txBody>
                    <a:bodyPr/>
                    <a:lstStyle/>
                    <a:p>
                      <a:pPr algn="ctr">
                        <a:defRPr sz="1200">
                          <a:solidFill>
                            <a:srgbClr val="0F172A"/>
                          </a:solidFill>
                        </a:defRPr>
                      </a:pPr>
                      <a:r>
                        <a:t>Rs 232,030 +/- 3,355</a:t>
                      </a:r>
                    </a:p>
                  </a:txBody>
                  <a:tcPr>
                    <a:solidFill>
                      <a:srgbClr val="F8FAFC"/>
                    </a:solidFill>
                  </a:tcPr>
                </a:tc>
                <a:tc>
                  <a:txBody>
                    <a:bodyPr/>
                    <a:lstStyle/>
                    <a:p>
                      <a:pPr algn="ctr">
                        <a:defRPr sz="1200">
                          <a:solidFill>
                            <a:srgbClr val="0F172A"/>
                          </a:solidFill>
                        </a:defRPr>
                      </a:pPr>
                      <a:r>
                        <a:t>Rs 19,376 +/- 651</a:t>
                      </a:r>
                    </a:p>
                  </a:txBody>
                  <a:tcPr>
                    <a:solidFill>
                      <a:srgbClr val="F8FAFC"/>
                    </a:solidFill>
                  </a:tcPr>
                </a:tc>
                <a:tc>
                  <a:txBody>
                    <a:bodyPr/>
                    <a:lstStyle/>
                    <a:p>
                      <a:pPr algn="ctr">
                        <a:defRPr sz="1200">
                          <a:solidFill>
                            <a:srgbClr val="0F172A"/>
                          </a:solidFill>
                        </a:defRPr>
                      </a:pPr>
                      <a:r>
                        <a:t>Rs 57,513 +/- 2,060</a:t>
                      </a:r>
                    </a:p>
                  </a:txBody>
                  <a:tcPr>
                    <a:solidFill>
                      <a:srgbClr val="F8FAF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BACKUP SLIDES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Backup: Mathematical Formulations &amp; Updates</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F172A"/>
                </a:solidFill>
              </a:defRPr>
            </a:pPr>
            <a:r>
              <a:t>CORE MATHEMATICAL FORMULATIONS</a:t>
            </a:r>
          </a:p>
          <a:p>
            <a:pPr>
              <a:spcBef>
                <a:spcPts val="1400"/>
              </a:spcBef>
              <a:defRPr sz="1500">
                <a:solidFill>
                  <a:srgbClr val="0F172A"/>
                </a:solidFill>
              </a:defRPr>
            </a:pPr>
            <a:r>
              <a:t>1. Ridge Regression Payoff: theta_hat_a = (D_a^T D_a + I_d)^-1 D_a^T c_a = A_a^-1 b_a</a:t>
            </a:r>
          </a:p>
          <a:p>
            <a:pPr>
              <a:spcBef>
                <a:spcPts val="1400"/>
              </a:spcBef>
              <a:defRPr sz="1500">
                <a:solidFill>
                  <a:srgbClr val="0F172A"/>
                </a:solidFill>
              </a:defRPr>
            </a:pPr>
            <a:r>
              <a:t>2. LinUCB Optimistic Score: p_{t,a} = x_t^T theta_hat_a + alpha * sqrt(x_t^T A_a^-1 x_t)</a:t>
            </a:r>
          </a:p>
          <a:p>
            <a:pPr>
              <a:spcBef>
                <a:spcPts val="1400"/>
              </a:spcBef>
              <a:defRPr sz="1500">
                <a:solidFill>
                  <a:srgbClr val="0F172A"/>
                </a:solidFill>
              </a:defRPr>
            </a:pPr>
            <a:r>
              <a:t>3. Sherman-Morrison Update: M_a &lt;- M_a - (M_a x x^T M_a) / (1 + x^T M_a x), updating inverse directly in O(d^2).</a:t>
            </a:r>
          </a:p>
          <a:p>
            <a:pPr>
              <a:spcBef>
                <a:spcPts val="1400"/>
              </a:spcBef>
              <a:defRPr sz="1500">
                <a:solidFill>
                  <a:srgbClr val="0F172A"/>
                </a:solidFill>
              </a:defRPr>
            </a:pPr>
            <a:r>
              <a:t>4. Thompson Sampling Posterior: theta_tilde_a ~ N(theta_hat_a, v^2 B_a^-1), where B_a = I_d + sum(x x^T).</a:t>
            </a:r>
          </a:p>
          <a:p>
            <a:pPr>
              <a:spcBef>
                <a:spcPts val="1400"/>
              </a:spcBef>
              <a:defRPr sz="1500">
                <a:solidFill>
                  <a:srgbClr val="0F172A"/>
                </a:solidFill>
              </a:defRPr>
            </a:pPr>
            <a:r>
              <a:t>5. Cumulative Regret: R(T) = sum_{t=1}^T ( mu_t^* - mu_t(a_t) ), tracking expected profit gap vs. Oracle.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BACKUP SLIDES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Backup: Comprehensive Threats to Validity</a:t>
            </a:r>
          </a:p>
        </p:txBody>
      </p:sp>
      <p:sp>
        <p:nvSpPr>
          <p:cNvPr id="4" name="Rounded Rectangle 3"/>
          <p:cNvSpPr/>
          <p:nvPr/>
        </p:nvSpPr>
        <p:spPr>
          <a:xfrm>
            <a:off x="731520" y="1645920"/>
            <a:ext cx="10698480" cy="4389120"/>
          </a:xfrm>
          <a:prstGeom prst="roundRect">
            <a:avLst/>
          </a:prstGeom>
          <a:solidFill>
            <a:srgbClr val="F8FAFC"/>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F4444"/>
                </a:solidFill>
              </a:defRPr>
            </a:pPr>
            <a:r>
              <a:t>LIMITATIONS &amp; VALIDITY AUDIT</a:t>
            </a:r>
          </a:p>
          <a:p>
            <a:pPr>
              <a:spcBef>
                <a:spcPts val="1400"/>
              </a:spcBef>
              <a:defRPr sz="1500">
                <a:solidFill>
                  <a:srgbClr val="0F172A"/>
                </a:solidFill>
              </a:defRPr>
            </a:pPr>
            <a:r>
              <a:t>• Data Limitations: Public Kaggle dataset lacks customer keys; customer profiles are synthetic; CostPrice assumes 40% margin.</a:t>
            </a:r>
          </a:p>
          <a:p>
            <a:pPr>
              <a:spcBef>
                <a:spcPts val="1400"/>
              </a:spcBef>
              <a:defRPr sz="1500">
                <a:solidFill>
                  <a:srgbClr val="0F172A"/>
                </a:solidFill>
              </a:defRPr>
            </a:pPr>
            <a:r>
              <a:t>• Simulation Assumptions: Demand formula is a stylized logistic link with modest AUC (0.6322); same simulator used for training and evaluation.</a:t>
            </a:r>
          </a:p>
          <a:p>
            <a:pPr>
              <a:spcBef>
                <a:spcPts val="1400"/>
              </a:spcBef>
              <a:defRPr sz="1500">
                <a:solidFill>
                  <a:srgbClr val="0F172A"/>
                </a:solidFill>
              </a:defRPr>
            </a:pPr>
            <a:r>
              <a:t>• Modeling Simplifications: Linear payoff cannot fit non-linear sigmoid elasticity; regret flattens to non-zero slope (~Rs 0.09/round).</a:t>
            </a:r>
          </a:p>
          <a:p>
            <a:pPr>
              <a:spcBef>
                <a:spcPts val="1400"/>
              </a:spcBef>
              <a:defRPr sz="1500">
                <a:solidFill>
                  <a:srgbClr val="0F172A"/>
                </a:solidFill>
              </a:defRPr>
            </a:pPr>
            <a:r>
              <a:t>• Evaluation Caveats: Replay logging was non-random with 39% tier violations; 10 seeds sufficient for win counts but not asymptotic p-values.</a:t>
            </a:r>
          </a:p>
          <a:p>
            <a:pPr>
              <a:spcBef>
                <a:spcPts val="1400"/>
              </a:spcBef>
              <a:defRPr sz="1500">
                <a:solidFill>
                  <a:srgbClr val="0F172A"/>
                </a:solidFill>
              </a:defRPr>
            </a:pPr>
            <a:r>
              <a:t>• Deployment Barriers: Real stores require store-wide promotional spend budgets, competitor reaction modeling, and legal dynamic pricing audits.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rIns="0" tIns="0" bIns="0">
            <a:spAutoFit/>
          </a:bodyPr>
          <a:lstStyle/>
          <a:p>
            <a:pPr>
              <a:defRPr sz="1100" b="1">
                <a:solidFill>
                  <a:srgbClr val="2563EB"/>
                </a:solidFill>
              </a:defRPr>
            </a:pPr>
            <a:r>
              <a:t>BACKUP SLIDES</a:t>
            </a:r>
          </a:p>
        </p:txBody>
      </p:sp>
      <p:sp>
        <p:nvSpPr>
          <p:cNvPr id="3" name="TextBox 2"/>
          <p:cNvSpPr txBox="1"/>
          <p:nvPr/>
        </p:nvSpPr>
        <p:spPr>
          <a:xfrm>
            <a:off x="731520" y="640080"/>
            <a:ext cx="10515600" cy="731520"/>
          </a:xfrm>
          <a:prstGeom prst="rect">
            <a:avLst/>
          </a:prstGeom>
          <a:noFill/>
        </p:spPr>
        <p:txBody>
          <a:bodyPr wrap="square" lIns="0" rIns="0" tIns="0" bIns="0">
            <a:spAutoFit/>
          </a:bodyPr>
          <a:lstStyle/>
          <a:p>
            <a:pPr>
              <a:defRPr sz="2600" b="1">
                <a:solidFill>
                  <a:srgbClr val="0F172A"/>
                </a:solidFill>
              </a:defRPr>
            </a:pPr>
            <a:r>
              <a:t>Backup: Technical Future Scope</a:t>
            </a:r>
          </a:p>
        </p:txBody>
      </p:sp>
      <p:sp>
        <p:nvSpPr>
          <p:cNvPr id="4" name="Rounded Rectangle 3"/>
          <p:cNvSpPr/>
          <p:nvPr/>
        </p:nvSpPr>
        <p:spPr>
          <a:xfrm>
            <a:off x="731520" y="1645920"/>
            <a:ext cx="10698480" cy="438912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563EB"/>
                </a:solidFill>
              </a:defRPr>
            </a:pPr>
            <a:r>
              <a:t>FUTURE RESEARCH ROADMAP</a:t>
            </a:r>
          </a:p>
          <a:p>
            <a:pPr>
              <a:spcBef>
                <a:spcPts val="1400"/>
              </a:spcBef>
              <a:defRPr sz="1500">
                <a:solidFill>
                  <a:srgbClr val="0F172A"/>
                </a:solidFill>
              </a:defRPr>
            </a:pPr>
            <a:r>
              <a:t>• 1. NeuralUCB [8]: Deep neural network feature extractors to directly model non-linear sigmoidal demand.</a:t>
            </a:r>
          </a:p>
          <a:p>
            <a:pPr>
              <a:spcBef>
                <a:spcPts val="1400"/>
              </a:spcBef>
              <a:defRPr sz="1500">
                <a:solidFill>
                  <a:srgbClr val="0F172A"/>
                </a:solidFill>
              </a:defRPr>
            </a:pPr>
            <a:r>
              <a:t>• 2. Continuous Streaming Feedback: Real-time Kafka-based covariance updates upon live POS transaction completion.</a:t>
            </a:r>
          </a:p>
          <a:p>
            <a:pPr>
              <a:spcBef>
                <a:spcPts val="1400"/>
              </a:spcBef>
              <a:defRPr sz="1500">
                <a:solidFill>
                  <a:srgbClr val="0F172A"/>
                </a:solidFill>
              </a:defRPr>
            </a:pPr>
            <a:r>
              <a:t>• 3. Real Identity Datasets: Empirical validation on longitudinal transaction records (e.g. UCI Online Retail dataset).</a:t>
            </a:r>
          </a:p>
          <a:p>
            <a:pPr>
              <a:spcBef>
                <a:spcPts val="1400"/>
              </a:spcBef>
              <a:defRPr sz="1500">
                <a:solidFill>
                  <a:srgbClr val="0F172A"/>
                </a:solidFill>
              </a:defRPr>
            </a:pPr>
            <a:r>
              <a:t>• 4. Reward-Formulated Loyalty Policies: Integrating customer lifetime retention value directly into reward functions.</a:t>
            </a:r>
          </a:p>
          <a:p>
            <a:pPr>
              <a:spcBef>
                <a:spcPts val="1400"/>
              </a:spcBef>
              <a:defRPr sz="1500">
                <a:solidFill>
                  <a:srgbClr val="0F172A"/>
                </a:solidFill>
              </a:defRPr>
            </a:pPr>
            <a:r>
              <a:t>• 5. Competitor-Reactive Pricing: Dynamic multi-agent game-theoretic pricing models reacting to competitor promotions.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